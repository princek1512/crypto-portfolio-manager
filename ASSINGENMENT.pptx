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0" r:id="rId6"/>
    <p:sldId id="268" r:id="rId7"/>
    <p:sldId id="269" r:id="rId8"/>
    <p:sldId id="270" r:id="rId9"/>
    <p:sldId id="271" r:id="rId10"/>
    <p:sldId id="261" r:id="rId11"/>
    <p:sldId id="262" r:id="rId12"/>
    <p:sldId id="263" r:id="rId13"/>
    <p:sldId id="264" r:id="rId14"/>
    <p:sldId id="265" r:id="rId15"/>
    <p:sldId id="266" r:id="rId16"/>
    <p:sldId id="267" r:id="rId17"/>
    <p:sldId id="272"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75" d="100"/>
          <a:sy n="75" d="100"/>
        </p:scale>
        <p:origin x="1020" y="-5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8091" y="3085765"/>
            <a:ext cx="8240108"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2" y="990600"/>
            <a:ext cx="7989752" cy="1504844"/>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2" y="2495444"/>
            <a:ext cx="7989752"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5BCAD085-E8A6-8845-BD4E-CB4CCA059FC4}" type="datetimeFigureOut">
              <a:rPr lang="en-US" smtClean="0"/>
              <a:t>14-Oct-25</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7614094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581192" y="2228003"/>
            <a:ext cx="7989752" cy="36307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14-Oct-25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360542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52646" y="5141973"/>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36573"/>
            <a:ext cx="7989751" cy="1504844"/>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3" y="4541417"/>
            <a:ext cx="7989751"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5BCAD085-E8A6-8845-BD4E-CB4CCA059FC4}" type="datetimeFigureOut">
              <a:rPr lang="en-US" smtClean="0"/>
              <a:t>14-Oct-25</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368157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81192" y="2228002"/>
            <a:ext cx="389952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282" y="2228003"/>
            <a:ext cx="390766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14-Oct-25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69440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87219" y="2228003"/>
            <a:ext cx="3593500" cy="576262"/>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2" y="2926051"/>
            <a:ext cx="3899527"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969308" y="2228003"/>
            <a:ext cx="3601635" cy="576262"/>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282" y="2926051"/>
            <a:ext cx="3907662"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14-Oct-25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95638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14-Oct-25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125702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14-Oct-25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632372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52646" y="5141973"/>
            <a:ext cx="8238707"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352" y="5262296"/>
            <a:ext cx="353662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6399" y="601200"/>
            <a:ext cx="824040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305617" y="5262295"/>
            <a:ext cx="426532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5BCAD085-E8A6-8845-BD4E-CB4CCA059FC4}" type="datetimeFigureOut">
              <a:rPr lang="en-US" smtClean="0"/>
              <a:t>14-Oct-25</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08861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2" y="4693389"/>
            <a:ext cx="7989752"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8093" y="599725"/>
            <a:ext cx="8238706"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6"/>
            <a:ext cx="7989752"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14-Oct-25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695497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14-Oct-25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364726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6629400" y="599725"/>
            <a:ext cx="2057399"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6629400" y="675725"/>
            <a:ext cx="1503123"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81192" y="675725"/>
            <a:ext cx="592220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745255" y="5956136"/>
            <a:ext cx="947672" cy="365125"/>
          </a:xfrm>
        </p:spPr>
        <p:txBody>
          <a:bodyPr/>
          <a:lstStyle>
            <a:lvl1pPr>
              <a:defRPr>
                <a:solidFill>
                  <a:schemeClr val="accent1">
                    <a:lumMod val="75000"/>
                    <a:lumOff val="25000"/>
                  </a:schemeClr>
                </a:solidFill>
              </a:defRPr>
            </a:lvl1pPr>
          </a:lstStyle>
          <a:p>
            <a:fld id="{5BCAD085-E8A6-8845-BD4E-CB4CCA059FC4}" type="datetimeFigureOut">
              <a:rPr lang="en-US" smtClean="0"/>
              <a:t>14-Oct-25</a:t>
            </a:fld>
            <a:endParaRPr lang="en-US"/>
          </a:p>
        </p:txBody>
      </p:sp>
      <p:sp>
        <p:nvSpPr>
          <p:cNvPr id="5" name="Footer Placeholder 4"/>
          <p:cNvSpPr>
            <a:spLocks noGrp="1"/>
          </p:cNvSpPr>
          <p:nvPr>
            <p:ph type="ftr" sz="quarter" idx="11"/>
          </p:nvPr>
        </p:nvSpPr>
        <p:spPr>
          <a:xfrm>
            <a:off x="581192" y="5951810"/>
            <a:ext cx="5922209" cy="365125"/>
          </a:xfrm>
        </p:spPr>
        <p:txBody>
          <a:body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42910840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687474"/>
            <a:ext cx="7989752" cy="1083329"/>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228003"/>
            <a:ext cx="7989752" cy="3630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559327" y="5956136"/>
            <a:ext cx="2133600" cy="365125"/>
          </a:xfrm>
          <a:prstGeom prst="rect">
            <a:avLst/>
          </a:prstGeom>
        </p:spPr>
        <p:txBody>
          <a:bodyPr vert="horz" lIns="91440" tIns="45720" rIns="91440" bIns="45720" rtlCol="0" anchor="ctr"/>
          <a:lstStyle>
            <a:lvl1pPr algn="r">
              <a:defRPr sz="900">
                <a:solidFill>
                  <a:schemeClr val="accent2"/>
                </a:solidFill>
              </a:defRPr>
            </a:lvl1pPr>
          </a:lstStyle>
          <a:p>
            <a:fld id="{5BCAD085-E8A6-8845-BD4E-CB4CCA059FC4}" type="datetimeFigureOut">
              <a:rPr lang="en-US" smtClean="0"/>
              <a:t>14-Oct-25</a:t>
            </a:fld>
            <a:endParaRPr lang="en-US"/>
          </a:p>
        </p:txBody>
      </p:sp>
      <p:sp>
        <p:nvSpPr>
          <p:cNvPr id="5" name="Footer Placeholder 4"/>
          <p:cNvSpPr>
            <a:spLocks noGrp="1"/>
          </p:cNvSpPr>
          <p:nvPr>
            <p:ph type="ftr" sz="quarter" idx="3"/>
          </p:nvPr>
        </p:nvSpPr>
        <p:spPr>
          <a:xfrm>
            <a:off x="581192" y="5951810"/>
            <a:ext cx="4870585"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7800476" y="5956136"/>
            <a:ext cx="770468" cy="365125"/>
          </a:xfrm>
          <a:prstGeom prst="rect">
            <a:avLst/>
          </a:prstGeom>
        </p:spPr>
        <p:txBody>
          <a:bodyPr vert="horz" lIns="91440" tIns="45720" rIns="91440" bIns="45720" rtlCol="0" anchor="ctr"/>
          <a:lstStyle>
            <a:lvl1pPr algn="r">
              <a:defRPr sz="900">
                <a:solidFill>
                  <a:schemeClr val="accent2"/>
                </a:solidFill>
              </a:defRPr>
            </a:lvl1pPr>
          </a:lstStyle>
          <a:p>
            <a:fld id="{C1FF6DA9-008F-8B48-92A6-B652298478BF}" type="slidenum">
              <a:rPr lang="en-US" smtClean="0"/>
              <a:t>‹#›</a:t>
            </a:fld>
            <a:endParaRPr lang="en-US"/>
          </a:p>
        </p:txBody>
      </p:sp>
      <p:sp>
        <p:nvSpPr>
          <p:cNvPr id="9" name="Rectangle 8"/>
          <p:cNvSpPr/>
          <p:nvPr/>
        </p:nvSpPr>
        <p:spPr>
          <a:xfrm>
            <a:off x="448091" y="441325"/>
            <a:ext cx="2719909" cy="10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976001" y="441325"/>
            <a:ext cx="2710800" cy="1080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3216601" y="441325"/>
            <a:ext cx="2710800" cy="10800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24728497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endParaRPr dirty="0"/>
          </a:p>
        </p:txBody>
      </p:sp>
      <p:sp>
        <p:nvSpPr>
          <p:cNvPr id="3" name="Subtitle 2"/>
          <p:cNvSpPr>
            <a:spLocks noGrp="1"/>
          </p:cNvSpPr>
          <p:nvPr>
            <p:ph idx="1"/>
          </p:nvPr>
        </p:nvSpPr>
        <p:spPr>
          <a:xfrm>
            <a:off x="446399" y="-67733"/>
            <a:ext cx="8240400" cy="7154333"/>
          </a:xfrm>
        </p:spPr>
        <p:txBody>
          <a:bodyPr/>
          <a:lstStyle/>
          <a:p>
            <a:pPr marL="0" indent="0">
              <a:buNone/>
            </a:pPr>
            <a:r>
              <a:rPr lang="en-US" sz="3200" u="sng" dirty="0">
                <a:latin typeface="Bahnschrift SemiBold" panose="020B0502040204020203" pitchFamily="34" charset="0"/>
              </a:rPr>
              <a:t>OBJECT ORIENTED PROGRAMMING</a:t>
            </a:r>
          </a:p>
          <a:p>
            <a:pPr marL="0" indent="0">
              <a:buNone/>
            </a:pPr>
            <a:r>
              <a:rPr lang="en-US" sz="2800" u="sng" dirty="0">
                <a:latin typeface="Berlin Sans FB Demi" panose="020E0802020502020306" pitchFamily="34" charset="0"/>
              </a:rPr>
              <a:t>Topic title:</a:t>
            </a:r>
            <a:r>
              <a:rPr lang="en-IN" sz="2800" cap="all" dirty="0">
                <a:latin typeface="Berlin Sans FB Demi" panose="020E0802020502020306" pitchFamily="34" charset="0"/>
              </a:rPr>
              <a:t> </a:t>
            </a:r>
            <a:r>
              <a:rPr lang="en-IN" sz="2800" b="1" i="1" u="sng" cap="all" dirty="0">
                <a:latin typeface="Berlin Sans FB Demi" panose="020E0802020502020306" pitchFamily="34" charset="0"/>
              </a:rPr>
              <a:t>Crypto Portfolio Manager</a:t>
            </a:r>
            <a:endParaRPr lang="en-US" sz="2800" b="1" i="1" u="sng" dirty="0">
              <a:latin typeface="Berlin Sans FB Demi" panose="020E0802020502020306" pitchFamily="34" charset="0"/>
            </a:endParaRPr>
          </a:p>
          <a:p>
            <a:r>
              <a:rPr lang="en-US" dirty="0">
                <a:latin typeface="Arial Rounded MT Bold" panose="020F0704030504030204" pitchFamily="34" charset="0"/>
              </a:rPr>
              <a:t>Name : prince </a:t>
            </a:r>
            <a:r>
              <a:rPr lang="en-US" dirty="0" err="1">
                <a:latin typeface="Arial Rounded MT Bold" panose="020F0704030504030204" pitchFamily="34" charset="0"/>
              </a:rPr>
              <a:t>kachchhi</a:t>
            </a:r>
            <a:endParaRPr lang="en-US" dirty="0">
              <a:latin typeface="Arial Rounded MT Bold" panose="020F0704030504030204" pitchFamily="34" charset="0"/>
            </a:endParaRPr>
          </a:p>
          <a:p>
            <a:r>
              <a:rPr lang="en-US" dirty="0">
                <a:latin typeface="Arial Rounded MT Bold" panose="020F0704030504030204" pitchFamily="34" charset="0"/>
              </a:rPr>
              <a:t>Roll no : 24bce130</a:t>
            </a:r>
          </a:p>
          <a:p>
            <a:r>
              <a:rPr lang="en-US" dirty="0">
                <a:latin typeface="Arial Rounded MT Bold" panose="020F0704030504030204" pitchFamily="34" charset="0"/>
              </a:rPr>
              <a:t>Name : Akshay Rudakiya</a:t>
            </a:r>
          </a:p>
          <a:p>
            <a:r>
              <a:rPr lang="en-US" dirty="0">
                <a:latin typeface="Arial Rounded MT Bold" panose="020F0704030504030204" pitchFamily="34" charset="0"/>
              </a:rPr>
              <a:t>Roll no : 24bce132</a:t>
            </a:r>
          </a:p>
        </p:txBody>
      </p:sp>
      <p:sp>
        <p:nvSpPr>
          <p:cNvPr id="4" name="Text Placeholder 3">
            <a:extLst>
              <a:ext uri="{FF2B5EF4-FFF2-40B4-BE49-F238E27FC236}">
                <a16:creationId xmlns:a16="http://schemas.microsoft.com/office/drawing/2014/main" id="{87BA4A7D-D6D7-B9BD-46DB-6ECE0A8AD74F}"/>
              </a:ext>
            </a:extLst>
          </p:cNvPr>
          <p:cNvSpPr>
            <a:spLocks noGrp="1"/>
          </p:cNvSpPr>
          <p:nvPr>
            <p:ph type="body" sz="half" idx="2"/>
          </p:nvPr>
        </p:nvSpPr>
        <p:spPr/>
        <p:txBody>
          <a:bodyPr>
            <a:normAutofit/>
          </a:bodyPr>
          <a:lstStyle/>
          <a:p>
            <a:endParaRPr lang="en-IN" dirty="0"/>
          </a:p>
        </p:txBody>
      </p:sp>
      <p:pic>
        <p:nvPicPr>
          <p:cNvPr id="5" name="Content Placeholder 4">
            <a:extLst>
              <a:ext uri="{FF2B5EF4-FFF2-40B4-BE49-F238E27FC236}">
                <a16:creationId xmlns:a16="http://schemas.microsoft.com/office/drawing/2014/main" id="{4B8CD412-4D33-B853-972F-65956C079C29}"/>
              </a:ext>
            </a:extLst>
          </p:cNvPr>
          <p:cNvPicPr>
            <a:picLocks noChangeAspect="1"/>
          </p:cNvPicPr>
          <p:nvPr/>
        </p:nvPicPr>
        <p:blipFill>
          <a:blip r:embed="rId2"/>
          <a:stretch>
            <a:fillRect/>
          </a:stretch>
        </p:blipFill>
        <p:spPr>
          <a:xfrm>
            <a:off x="3211512" y="609601"/>
            <a:ext cx="2720975" cy="131717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Introduction</a:t>
            </a:r>
          </a:p>
        </p:txBody>
      </p:sp>
      <p:sp>
        <p:nvSpPr>
          <p:cNvPr id="3" name="Content Placeholder 2"/>
          <p:cNvSpPr>
            <a:spLocks noGrp="1"/>
          </p:cNvSpPr>
          <p:nvPr>
            <p:ph idx="1"/>
          </p:nvPr>
        </p:nvSpPr>
        <p:spPr/>
        <p:txBody>
          <a:bodyPr>
            <a:normAutofit/>
          </a:bodyPr>
          <a:lstStyle/>
          <a:p>
            <a:r>
              <a:rPr sz="2400" dirty="0">
                <a:latin typeface="Bahnschrift SemiBold" panose="020B0502040204020203" pitchFamily="34" charset="0"/>
              </a:rPr>
              <a:t>This project is a simple Crypto Portfolio Manager built in C++.</a:t>
            </a:r>
            <a:endParaRPr lang="en-US" sz="2400" dirty="0">
              <a:latin typeface="Bahnschrift SemiBold" panose="020B0502040204020203" pitchFamily="34" charset="0"/>
            </a:endParaRPr>
          </a:p>
          <a:p>
            <a:r>
              <a:rPr sz="2400" dirty="0">
                <a:latin typeface="Bahnschrift SemiBold" panose="020B0502040204020203" pitchFamily="34" charset="0"/>
              </a:rPr>
              <a:t> It helps a user to keep track of their cryptocurrency holdings, set target allocations, and get suggestions for rebalancing. </a:t>
            </a:r>
            <a:endParaRPr lang="en-US" sz="2400" dirty="0">
              <a:latin typeface="Bahnschrift SemiBold" panose="020B0502040204020203" pitchFamily="34" charset="0"/>
            </a:endParaRPr>
          </a:p>
          <a:p>
            <a:r>
              <a:rPr sz="2400" dirty="0">
                <a:latin typeface="Bahnschrift SemiBold" panose="020B0502040204020203" pitchFamily="34" charset="0"/>
              </a:rPr>
              <a:t>The project is designed in a very easy and human-friendly way, so that even beginners can understand how it works.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is a Portfolio?</a:t>
            </a:r>
          </a:p>
        </p:txBody>
      </p:sp>
      <p:sp>
        <p:nvSpPr>
          <p:cNvPr id="3" name="Content Placeholder 2"/>
          <p:cNvSpPr>
            <a:spLocks noGrp="1"/>
          </p:cNvSpPr>
          <p:nvPr>
            <p:ph idx="1"/>
          </p:nvPr>
        </p:nvSpPr>
        <p:spPr/>
        <p:txBody>
          <a:bodyPr>
            <a:normAutofit/>
          </a:bodyPr>
          <a:lstStyle/>
          <a:p>
            <a:r>
              <a:rPr sz="2400" dirty="0">
                <a:latin typeface="Bahnschrift SemiBold" panose="020B0502040204020203" pitchFamily="34" charset="0"/>
              </a:rPr>
              <a:t>A portfolio is a collection of assets or investments.</a:t>
            </a:r>
            <a:endParaRPr lang="en-US" sz="2400" dirty="0">
              <a:latin typeface="Bahnschrift SemiBold" panose="020B0502040204020203" pitchFamily="34" charset="0"/>
            </a:endParaRPr>
          </a:p>
          <a:p>
            <a:r>
              <a:rPr sz="2400" dirty="0">
                <a:latin typeface="Bahnschrift SemiBold" panose="020B0502040204020203" pitchFamily="34" charset="0"/>
              </a:rPr>
              <a:t> In this case, it is a collection of cryptocurrencies like Bitcoin, Ethereum, and Cardano.</a:t>
            </a:r>
            <a:endParaRPr lang="en-US" sz="2400" dirty="0">
              <a:latin typeface="Bahnschrift SemiBold" panose="020B0502040204020203" pitchFamily="34" charset="0"/>
            </a:endParaRPr>
          </a:p>
          <a:p>
            <a:r>
              <a:rPr sz="2400" dirty="0">
                <a:latin typeface="Bahnschrift SemiBold" panose="020B0502040204020203" pitchFamily="34" charset="0"/>
              </a:rPr>
              <a:t> The portfolio stores information about how much of each crypto you own, and how much each is worth in US Dollars.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Features of the Program</a:t>
            </a:r>
          </a:p>
        </p:txBody>
      </p:sp>
      <p:sp>
        <p:nvSpPr>
          <p:cNvPr id="3" name="Content Placeholder 2"/>
          <p:cNvSpPr>
            <a:spLocks noGrp="1"/>
          </p:cNvSpPr>
          <p:nvPr>
            <p:ph idx="1"/>
          </p:nvPr>
        </p:nvSpPr>
        <p:spPr/>
        <p:txBody>
          <a:bodyPr>
            <a:normAutofit/>
          </a:bodyPr>
          <a:lstStyle/>
          <a:p>
            <a:r>
              <a:rPr sz="2400" dirty="0">
                <a:latin typeface="Bahnschrift SemiBold" panose="020B0502040204020203" pitchFamily="34" charset="0"/>
              </a:rPr>
              <a:t>1. Add or update your holdings.</a:t>
            </a:r>
          </a:p>
          <a:p>
            <a:r>
              <a:rPr sz="2400" dirty="0">
                <a:latin typeface="Bahnschrift SemiBold" panose="020B0502040204020203" pitchFamily="34" charset="0"/>
              </a:rPr>
              <a:t>2. Add or update target percentages.</a:t>
            </a:r>
          </a:p>
          <a:p>
            <a:r>
              <a:rPr sz="2400" dirty="0">
                <a:latin typeface="Bahnschrift SemiBold" panose="020B0502040204020203" pitchFamily="34" charset="0"/>
              </a:rPr>
              <a:t>3. See the total value of your portfolio.</a:t>
            </a:r>
          </a:p>
          <a:p>
            <a:r>
              <a:rPr sz="2400" dirty="0">
                <a:latin typeface="Bahnschrift SemiBold" panose="020B0502040204020203" pitchFamily="34" charset="0"/>
              </a:rPr>
              <a:t>4. Get suggestions to rebalance when holdings deviate too much from targets.</a:t>
            </a:r>
          </a:p>
          <a:p>
            <a:r>
              <a:rPr sz="2400" dirty="0">
                <a:latin typeface="Bahnschrift SemiBold" panose="020B0502040204020203" pitchFamily="34" charset="0"/>
              </a:rPr>
              <a:t>5. Simple menu system with clear options.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How Data is Stored</a:t>
            </a:r>
          </a:p>
        </p:txBody>
      </p:sp>
      <p:sp>
        <p:nvSpPr>
          <p:cNvPr id="3" name="Content Placeholder 2"/>
          <p:cNvSpPr>
            <a:spLocks noGrp="1"/>
          </p:cNvSpPr>
          <p:nvPr>
            <p:ph idx="1"/>
          </p:nvPr>
        </p:nvSpPr>
        <p:spPr/>
        <p:txBody>
          <a:bodyPr>
            <a:normAutofit/>
          </a:bodyPr>
          <a:lstStyle/>
          <a:p>
            <a:r>
              <a:rPr sz="2400" dirty="0">
                <a:latin typeface="Bahnschrift SemiBold" panose="020B0502040204020203" pitchFamily="34" charset="0"/>
              </a:rPr>
              <a:t>The program uses two simple text files:</a:t>
            </a:r>
          </a:p>
          <a:p>
            <a:r>
              <a:rPr sz="2400" dirty="0">
                <a:latin typeface="Bahnschrift SemiBold" panose="020B0502040204020203" pitchFamily="34" charset="0"/>
              </a:rPr>
              <a:t>- holdings.txt: Stores crypto symbols and quantities.</a:t>
            </a:r>
          </a:p>
          <a:p>
            <a:r>
              <a:rPr sz="2400" dirty="0">
                <a:latin typeface="Bahnschrift SemiBold" panose="020B0502040204020203" pitchFamily="34" charset="0"/>
              </a:rPr>
              <a:t>- targets.txt: Stores crypto symbols and target percentages.</a:t>
            </a:r>
          </a:p>
          <a:p>
            <a:endParaRPr sz="2400" dirty="0">
              <a:latin typeface="Bahnschrift SemiBold" panose="020B0502040204020203" pitchFamily="34" charset="0"/>
            </a:endParaRPr>
          </a:p>
          <a:p>
            <a:r>
              <a:rPr sz="2400" dirty="0">
                <a:latin typeface="Bahnschrift SemiBold" panose="020B0502040204020203" pitchFamily="34" charset="0"/>
              </a:rPr>
              <a:t>This makes the system very easy to use and modify. You don’t need databases or complex files.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A1C81-2171-3CEE-F4FD-AC1B60DDEE8C}"/>
              </a:ext>
            </a:extLst>
          </p:cNvPr>
          <p:cNvSpPr>
            <a:spLocks noGrp="1"/>
          </p:cNvSpPr>
          <p:nvPr>
            <p:ph type="title"/>
          </p:nvPr>
        </p:nvSpPr>
        <p:spPr/>
        <p:txBody>
          <a:bodyPr>
            <a:normAutofit fontScale="90000"/>
          </a:bodyPr>
          <a:lstStyle/>
          <a:p>
            <a:r>
              <a:rPr lang="en-IN" dirty="0"/>
              <a:t>#include &lt;iostream&gt;</a:t>
            </a:r>
            <a:br>
              <a:rPr lang="en-IN" dirty="0"/>
            </a:br>
            <a:r>
              <a:rPr lang="en-IN" dirty="0"/>
              <a:t>#include &lt;</a:t>
            </a:r>
            <a:r>
              <a:rPr lang="en-IN" dirty="0" err="1"/>
              <a:t>fstream</a:t>
            </a:r>
            <a:r>
              <a:rPr lang="en-IN" dirty="0"/>
              <a:t>&gt;</a:t>
            </a:r>
            <a:br>
              <a:rPr lang="en-IN" dirty="0"/>
            </a:br>
            <a:r>
              <a:rPr lang="en-IN" dirty="0"/>
              <a:t>#include &lt;map&gt;</a:t>
            </a:r>
            <a:br>
              <a:rPr lang="en-IN" dirty="0"/>
            </a:br>
            <a:r>
              <a:rPr lang="en-IN" dirty="0"/>
              <a:t>#include &lt;</a:t>
            </a:r>
            <a:r>
              <a:rPr lang="en-IN" dirty="0" err="1"/>
              <a:t>iomanip</a:t>
            </a:r>
            <a:r>
              <a:rPr lang="en-IN" dirty="0"/>
              <a:t>&gt;</a:t>
            </a:r>
            <a:br>
              <a:rPr lang="en-IN" dirty="0"/>
            </a:br>
            <a:r>
              <a:rPr lang="en-IN" dirty="0"/>
              <a:t>#include &lt;</a:t>
            </a:r>
            <a:r>
              <a:rPr lang="en-IN" dirty="0" err="1"/>
              <a:t>cmath</a:t>
            </a:r>
            <a:r>
              <a:rPr lang="en-IN" dirty="0"/>
              <a:t>&gt;</a:t>
            </a:r>
            <a:br>
              <a:rPr lang="en-IN" dirty="0"/>
            </a:br>
            <a:r>
              <a:rPr lang="en-IN" dirty="0"/>
              <a:t>#include &lt;vector&gt;</a:t>
            </a:r>
            <a:br>
              <a:rPr lang="en-IN" dirty="0"/>
            </a:br>
            <a:r>
              <a:rPr lang="en-IN" dirty="0"/>
              <a:t>#include &lt;string&gt;</a:t>
            </a:r>
            <a:br>
              <a:rPr lang="en-IN" dirty="0"/>
            </a:br>
            <a:r>
              <a:rPr lang="en-IN" dirty="0"/>
              <a:t>using namespace std;</a:t>
            </a:r>
            <a:br>
              <a:rPr lang="en-IN" dirty="0"/>
            </a:br>
            <a:br>
              <a:rPr lang="en-IN" dirty="0"/>
            </a:br>
            <a:br>
              <a:rPr lang="en-IN" dirty="0"/>
            </a:br>
            <a:r>
              <a:rPr lang="en-IN" dirty="0"/>
              <a:t>// ---------------- Abstract Base Class ----------------</a:t>
            </a:r>
            <a:br>
              <a:rPr lang="en-IN" dirty="0"/>
            </a:br>
            <a:r>
              <a:rPr lang="en-IN" dirty="0"/>
              <a:t>class </a:t>
            </a:r>
            <a:r>
              <a:rPr lang="en-IN" dirty="0" err="1"/>
              <a:t>IDataManager</a:t>
            </a:r>
            <a:r>
              <a:rPr lang="en-IN" dirty="0"/>
              <a:t> {</a:t>
            </a:r>
            <a:br>
              <a:rPr lang="en-IN" dirty="0"/>
            </a:br>
            <a:r>
              <a:rPr lang="en-IN" dirty="0"/>
              <a:t>public:</a:t>
            </a:r>
            <a:br>
              <a:rPr lang="en-IN" dirty="0"/>
            </a:br>
            <a:r>
              <a:rPr lang="en-IN" dirty="0"/>
              <a:t>    virtual void load() = 0;   // pure virtual: load data</a:t>
            </a:r>
            <a:br>
              <a:rPr lang="en-IN" dirty="0"/>
            </a:br>
            <a:r>
              <a:rPr lang="en-IN" dirty="0"/>
              <a:t>    virtual void save() = 0;   // pure virtual: save data</a:t>
            </a:r>
            <a:br>
              <a:rPr lang="en-IN" dirty="0"/>
            </a:br>
            <a:r>
              <a:rPr lang="en-IN" dirty="0"/>
              <a:t>    virtual ~</a:t>
            </a:r>
            <a:r>
              <a:rPr lang="en-IN" dirty="0" err="1"/>
              <a:t>IDataManager</a:t>
            </a:r>
            <a:r>
              <a:rPr lang="en-IN" dirty="0"/>
              <a:t>() {}</a:t>
            </a:r>
            <a:br>
              <a:rPr lang="en-IN" dirty="0"/>
            </a:br>
            <a:r>
              <a:rPr lang="en-IN" dirty="0"/>
              <a:t>};</a:t>
            </a:r>
            <a:br>
              <a:rPr lang="en-IN" dirty="0"/>
            </a:br>
            <a:br>
              <a:rPr lang="en-IN" dirty="0"/>
            </a:br>
            <a:br>
              <a:rPr lang="en-IN" dirty="0"/>
            </a:br>
            <a:r>
              <a:rPr lang="en-IN" dirty="0"/>
              <a:t>// ---------------- Holding Data ----------------</a:t>
            </a:r>
            <a:br>
              <a:rPr lang="en-IN" dirty="0"/>
            </a:br>
            <a:r>
              <a:rPr lang="en-IN" dirty="0"/>
              <a:t>class Holdings : public </a:t>
            </a:r>
            <a:r>
              <a:rPr lang="en-IN" dirty="0" err="1"/>
              <a:t>IDataManager</a:t>
            </a:r>
            <a:r>
              <a:rPr lang="en-IN" dirty="0"/>
              <a:t> {</a:t>
            </a:r>
            <a:br>
              <a:rPr lang="en-IN" dirty="0"/>
            </a:br>
            <a:r>
              <a:rPr lang="en-IN" dirty="0"/>
              <a:t>public:</a:t>
            </a:r>
            <a:br>
              <a:rPr lang="en-IN" dirty="0"/>
            </a:br>
            <a:r>
              <a:rPr lang="en-IN" dirty="0"/>
              <a:t>    map&lt;string, double&gt; data;</a:t>
            </a:r>
            <a:br>
              <a:rPr lang="en-IN" dirty="0"/>
            </a:br>
            <a:br>
              <a:rPr lang="en-IN" dirty="0"/>
            </a:br>
            <a:br>
              <a:rPr lang="en-IN" dirty="0"/>
            </a:br>
            <a:r>
              <a:rPr lang="en-IN" dirty="0"/>
              <a:t>    void load() override {</a:t>
            </a:r>
            <a:br>
              <a:rPr lang="en-IN" dirty="0"/>
            </a:br>
            <a:r>
              <a:rPr lang="en-IN" dirty="0"/>
              <a:t>        </a:t>
            </a:r>
            <a:r>
              <a:rPr lang="en-IN" dirty="0" err="1"/>
              <a:t>data.clear</a:t>
            </a:r>
            <a:r>
              <a:rPr lang="en-IN" dirty="0"/>
              <a:t>();</a:t>
            </a:r>
            <a:br>
              <a:rPr lang="en-IN" dirty="0"/>
            </a:br>
            <a:r>
              <a:rPr lang="en-IN" dirty="0"/>
              <a:t>        </a:t>
            </a:r>
            <a:r>
              <a:rPr lang="en-IN" dirty="0" err="1"/>
              <a:t>ifstream</a:t>
            </a:r>
            <a:r>
              <a:rPr lang="en-IN" dirty="0"/>
              <a:t> f("holdings.txt");</a:t>
            </a:r>
            <a:br>
              <a:rPr lang="en-IN" dirty="0"/>
            </a:br>
            <a:r>
              <a:rPr lang="en-IN" dirty="0"/>
              <a:t>        if (!f) return;</a:t>
            </a:r>
            <a:br>
              <a:rPr lang="en-IN" dirty="0"/>
            </a:br>
            <a:r>
              <a:rPr lang="en-IN" dirty="0"/>
              <a:t>        string </a:t>
            </a:r>
            <a:r>
              <a:rPr lang="en-IN" dirty="0" err="1"/>
              <a:t>sym</a:t>
            </a:r>
            <a:r>
              <a:rPr lang="en-IN" dirty="0"/>
              <a:t>; double qty;</a:t>
            </a:r>
            <a:br>
              <a:rPr lang="en-IN" dirty="0"/>
            </a:br>
            <a:r>
              <a:rPr lang="en-IN" dirty="0"/>
              <a:t>        while (f &gt;&gt; </a:t>
            </a:r>
            <a:r>
              <a:rPr lang="en-IN" dirty="0" err="1"/>
              <a:t>sym</a:t>
            </a:r>
            <a:r>
              <a:rPr lang="en-IN" dirty="0"/>
              <a:t> &gt;&gt; qty) data[</a:t>
            </a:r>
            <a:r>
              <a:rPr lang="en-IN" dirty="0" err="1"/>
              <a:t>sym</a:t>
            </a:r>
            <a:r>
              <a:rPr lang="en-IN" dirty="0"/>
              <a:t>] = qty;</a:t>
            </a:r>
            <a:br>
              <a:rPr lang="en-IN" dirty="0"/>
            </a:br>
            <a:r>
              <a:rPr lang="en-IN" dirty="0"/>
              <a:t>    }</a:t>
            </a:r>
            <a:br>
              <a:rPr lang="en-IN" dirty="0"/>
            </a:br>
            <a:br>
              <a:rPr lang="en-IN" dirty="0"/>
            </a:br>
            <a:br>
              <a:rPr lang="en-IN" dirty="0"/>
            </a:br>
            <a:r>
              <a:rPr lang="en-IN" dirty="0"/>
              <a:t>    void save() override {</a:t>
            </a:r>
            <a:br>
              <a:rPr lang="en-IN" dirty="0"/>
            </a:br>
            <a:r>
              <a:rPr lang="en-IN" dirty="0"/>
              <a:t>        </a:t>
            </a:r>
            <a:r>
              <a:rPr lang="en-IN" dirty="0" err="1"/>
              <a:t>ofstream</a:t>
            </a:r>
            <a:r>
              <a:rPr lang="en-IN" dirty="0"/>
              <a:t> f("holdings.txt");</a:t>
            </a:r>
            <a:br>
              <a:rPr lang="en-IN" dirty="0"/>
            </a:br>
            <a:r>
              <a:rPr lang="en-IN" dirty="0"/>
              <a:t>        for (auto &amp;</a:t>
            </a:r>
            <a:r>
              <a:rPr lang="en-IN" dirty="0" err="1"/>
              <a:t>kv</a:t>
            </a:r>
            <a:r>
              <a:rPr lang="en-IN" dirty="0"/>
              <a:t> : data) f &lt;&lt; </a:t>
            </a:r>
            <a:r>
              <a:rPr lang="en-IN" dirty="0" err="1"/>
              <a:t>kv.first</a:t>
            </a:r>
            <a:r>
              <a:rPr lang="en-IN" dirty="0"/>
              <a:t> &lt;&lt; " " &lt;&lt; </a:t>
            </a:r>
            <a:r>
              <a:rPr lang="en-IN" dirty="0" err="1"/>
              <a:t>kv.second</a:t>
            </a:r>
            <a:r>
              <a:rPr lang="en-IN" dirty="0"/>
              <a:t> &lt;&lt; "\n";</a:t>
            </a:r>
            <a:br>
              <a:rPr lang="en-IN" dirty="0"/>
            </a:br>
            <a:r>
              <a:rPr lang="en-IN" dirty="0"/>
              <a:t>    }</a:t>
            </a:r>
            <a:br>
              <a:rPr lang="en-IN" dirty="0"/>
            </a:br>
            <a:br>
              <a:rPr lang="en-IN" dirty="0"/>
            </a:br>
            <a:br>
              <a:rPr lang="en-IN" dirty="0"/>
            </a:br>
            <a:r>
              <a:rPr lang="en-IN" dirty="0"/>
              <a:t>    void update(</a:t>
            </a:r>
            <a:r>
              <a:rPr lang="en-IN" dirty="0" err="1"/>
              <a:t>const</a:t>
            </a:r>
            <a:r>
              <a:rPr lang="en-IN" dirty="0"/>
              <a:t> string &amp;</a:t>
            </a:r>
            <a:r>
              <a:rPr lang="en-IN" dirty="0" err="1"/>
              <a:t>sym</a:t>
            </a:r>
            <a:r>
              <a:rPr lang="en-IN" dirty="0"/>
              <a:t>, double qty) {</a:t>
            </a:r>
            <a:br>
              <a:rPr lang="en-IN" dirty="0"/>
            </a:br>
            <a:r>
              <a:rPr lang="en-IN" dirty="0"/>
              <a:t>        if (qty == 0) </a:t>
            </a:r>
            <a:r>
              <a:rPr lang="en-IN" dirty="0" err="1"/>
              <a:t>data.erase</a:t>
            </a:r>
            <a:r>
              <a:rPr lang="en-IN" dirty="0"/>
              <a:t>(</a:t>
            </a:r>
            <a:r>
              <a:rPr lang="en-IN" dirty="0" err="1"/>
              <a:t>sym</a:t>
            </a:r>
            <a:r>
              <a:rPr lang="en-IN" dirty="0"/>
              <a:t>);</a:t>
            </a:r>
            <a:br>
              <a:rPr lang="en-IN" dirty="0"/>
            </a:br>
            <a:r>
              <a:rPr lang="en-IN" dirty="0"/>
              <a:t>        else data[</a:t>
            </a:r>
            <a:r>
              <a:rPr lang="en-IN" dirty="0" err="1"/>
              <a:t>sym</a:t>
            </a:r>
            <a:r>
              <a:rPr lang="en-IN" dirty="0"/>
              <a:t>] = qty;</a:t>
            </a:r>
            <a:br>
              <a:rPr lang="en-IN" dirty="0"/>
            </a:br>
            <a:r>
              <a:rPr lang="en-IN" dirty="0"/>
              <a:t>        save();</a:t>
            </a:r>
            <a:br>
              <a:rPr lang="en-IN" dirty="0"/>
            </a:br>
            <a:r>
              <a:rPr lang="en-IN" dirty="0"/>
              <a:t>    }</a:t>
            </a:r>
            <a:br>
              <a:rPr lang="en-IN" dirty="0"/>
            </a:br>
            <a:r>
              <a:rPr lang="en-IN" dirty="0"/>
              <a:t>};</a:t>
            </a:r>
            <a:br>
              <a:rPr lang="en-IN" dirty="0"/>
            </a:br>
            <a:br>
              <a:rPr lang="en-IN" dirty="0"/>
            </a:br>
            <a:br>
              <a:rPr lang="en-IN" dirty="0"/>
            </a:br>
            <a:r>
              <a:rPr lang="en-IN" dirty="0"/>
              <a:t>// ---------------- Target Data ----------------</a:t>
            </a:r>
            <a:br>
              <a:rPr lang="en-IN" dirty="0"/>
            </a:br>
            <a:r>
              <a:rPr lang="en-IN" dirty="0"/>
              <a:t>class Targets : public </a:t>
            </a:r>
            <a:r>
              <a:rPr lang="en-IN" dirty="0" err="1"/>
              <a:t>IDataManager</a:t>
            </a:r>
            <a:r>
              <a:rPr lang="en-IN" dirty="0"/>
              <a:t> {</a:t>
            </a:r>
            <a:br>
              <a:rPr lang="en-IN" dirty="0"/>
            </a:br>
            <a:r>
              <a:rPr lang="en-IN" dirty="0"/>
              <a:t>public:</a:t>
            </a:r>
            <a:br>
              <a:rPr lang="en-IN" dirty="0"/>
            </a:br>
            <a:r>
              <a:rPr lang="en-IN" dirty="0"/>
              <a:t>    map&lt;string, double&gt; data;</a:t>
            </a:r>
            <a:br>
              <a:rPr lang="en-IN" dirty="0"/>
            </a:br>
            <a:br>
              <a:rPr lang="en-IN" dirty="0"/>
            </a:br>
            <a:br>
              <a:rPr lang="en-IN" dirty="0"/>
            </a:br>
            <a:r>
              <a:rPr lang="en-IN" dirty="0"/>
              <a:t>    void load() override {</a:t>
            </a:r>
            <a:br>
              <a:rPr lang="en-IN" dirty="0"/>
            </a:br>
            <a:r>
              <a:rPr lang="en-IN" dirty="0"/>
              <a:t>        </a:t>
            </a:r>
            <a:r>
              <a:rPr lang="en-IN" dirty="0" err="1"/>
              <a:t>data.clear</a:t>
            </a:r>
            <a:r>
              <a:rPr lang="en-IN" dirty="0"/>
              <a:t>();</a:t>
            </a:r>
            <a:br>
              <a:rPr lang="en-IN" dirty="0"/>
            </a:br>
            <a:r>
              <a:rPr lang="en-IN" dirty="0"/>
              <a:t>        </a:t>
            </a:r>
            <a:r>
              <a:rPr lang="en-IN" dirty="0" err="1"/>
              <a:t>ifstream</a:t>
            </a:r>
            <a:r>
              <a:rPr lang="en-IN" dirty="0"/>
              <a:t> f("targets.txt");</a:t>
            </a:r>
            <a:br>
              <a:rPr lang="en-IN" dirty="0"/>
            </a:br>
            <a:r>
              <a:rPr lang="en-IN" dirty="0"/>
              <a:t>        if (!f) return;</a:t>
            </a:r>
            <a:br>
              <a:rPr lang="en-IN" dirty="0"/>
            </a:br>
            <a:r>
              <a:rPr lang="en-IN" dirty="0"/>
              <a:t>        string </a:t>
            </a:r>
            <a:r>
              <a:rPr lang="en-IN" dirty="0" err="1"/>
              <a:t>sym</a:t>
            </a:r>
            <a:r>
              <a:rPr lang="en-IN" dirty="0"/>
              <a:t>; double pct;</a:t>
            </a:r>
            <a:br>
              <a:rPr lang="en-IN" dirty="0"/>
            </a:br>
            <a:r>
              <a:rPr lang="en-IN" dirty="0"/>
              <a:t>        while (f &gt;&gt; </a:t>
            </a:r>
            <a:r>
              <a:rPr lang="en-IN" dirty="0" err="1"/>
              <a:t>sym</a:t>
            </a:r>
            <a:r>
              <a:rPr lang="en-IN" dirty="0"/>
              <a:t> &gt;&gt; pct) data[</a:t>
            </a:r>
            <a:r>
              <a:rPr lang="en-IN" dirty="0" err="1"/>
              <a:t>sym</a:t>
            </a:r>
            <a:r>
              <a:rPr lang="en-IN" dirty="0"/>
              <a:t>] = pct;</a:t>
            </a:r>
            <a:br>
              <a:rPr lang="en-IN" dirty="0"/>
            </a:br>
            <a:r>
              <a:rPr lang="en-IN" dirty="0"/>
              <a:t>    }</a:t>
            </a:r>
            <a:br>
              <a:rPr lang="en-IN" dirty="0"/>
            </a:br>
            <a:br>
              <a:rPr lang="en-IN" dirty="0"/>
            </a:br>
            <a:br>
              <a:rPr lang="en-IN" dirty="0"/>
            </a:br>
            <a:r>
              <a:rPr lang="en-IN" dirty="0"/>
              <a:t>    void save() override {</a:t>
            </a:r>
            <a:br>
              <a:rPr lang="en-IN" dirty="0"/>
            </a:br>
            <a:r>
              <a:rPr lang="en-IN" dirty="0"/>
              <a:t>        </a:t>
            </a:r>
            <a:r>
              <a:rPr lang="en-IN" dirty="0" err="1"/>
              <a:t>ofstream</a:t>
            </a:r>
            <a:r>
              <a:rPr lang="en-IN" dirty="0"/>
              <a:t> f("targets.txt");</a:t>
            </a:r>
            <a:br>
              <a:rPr lang="en-IN" dirty="0"/>
            </a:br>
            <a:r>
              <a:rPr lang="en-IN" dirty="0"/>
              <a:t>        for (auto &amp;</a:t>
            </a:r>
            <a:r>
              <a:rPr lang="en-IN" dirty="0" err="1"/>
              <a:t>kv</a:t>
            </a:r>
            <a:r>
              <a:rPr lang="en-IN" dirty="0"/>
              <a:t> : data) f &lt;&lt; </a:t>
            </a:r>
            <a:r>
              <a:rPr lang="en-IN" dirty="0" err="1"/>
              <a:t>kv.first</a:t>
            </a:r>
            <a:r>
              <a:rPr lang="en-IN" dirty="0"/>
              <a:t> &lt;&lt; " " &lt;&lt; </a:t>
            </a:r>
            <a:r>
              <a:rPr lang="en-IN" dirty="0" err="1"/>
              <a:t>kv.second</a:t>
            </a:r>
            <a:r>
              <a:rPr lang="en-IN" dirty="0"/>
              <a:t> &lt;&lt; "\n";</a:t>
            </a:r>
            <a:br>
              <a:rPr lang="en-IN" dirty="0"/>
            </a:br>
            <a:r>
              <a:rPr lang="en-IN" dirty="0"/>
              <a:t>    }</a:t>
            </a:r>
            <a:br>
              <a:rPr lang="en-IN" dirty="0"/>
            </a:br>
            <a:br>
              <a:rPr lang="en-IN" dirty="0"/>
            </a:br>
            <a:br>
              <a:rPr lang="en-IN" dirty="0"/>
            </a:br>
            <a:r>
              <a:rPr lang="en-IN" dirty="0"/>
              <a:t>    void update(</a:t>
            </a:r>
            <a:r>
              <a:rPr lang="en-IN" dirty="0" err="1"/>
              <a:t>const</a:t>
            </a:r>
            <a:r>
              <a:rPr lang="en-IN" dirty="0"/>
              <a:t> string &amp;</a:t>
            </a:r>
            <a:r>
              <a:rPr lang="en-IN" dirty="0" err="1"/>
              <a:t>sym</a:t>
            </a:r>
            <a:r>
              <a:rPr lang="en-IN" dirty="0"/>
              <a:t>, double pct) {</a:t>
            </a:r>
            <a:br>
              <a:rPr lang="en-IN" dirty="0"/>
            </a:br>
            <a:r>
              <a:rPr lang="en-IN" dirty="0"/>
              <a:t>        data[</a:t>
            </a:r>
            <a:r>
              <a:rPr lang="en-IN" dirty="0" err="1"/>
              <a:t>sym</a:t>
            </a:r>
            <a:r>
              <a:rPr lang="en-IN" dirty="0"/>
              <a:t>] = pct;</a:t>
            </a:r>
            <a:br>
              <a:rPr lang="en-IN" dirty="0"/>
            </a:br>
            <a:r>
              <a:rPr lang="en-IN" dirty="0"/>
              <a:t>        save();</a:t>
            </a:r>
            <a:br>
              <a:rPr lang="en-IN" dirty="0"/>
            </a:br>
            <a:r>
              <a:rPr lang="en-IN" dirty="0"/>
              <a:t>    }</a:t>
            </a:r>
            <a:br>
              <a:rPr lang="en-IN" dirty="0"/>
            </a:br>
            <a:r>
              <a:rPr lang="en-IN" dirty="0"/>
              <a:t>};</a:t>
            </a:r>
            <a:br>
              <a:rPr lang="en-IN" dirty="0"/>
            </a:br>
            <a:br>
              <a:rPr lang="en-IN" dirty="0"/>
            </a:br>
            <a:br>
              <a:rPr lang="en-IN" dirty="0"/>
            </a:br>
            <a:r>
              <a:rPr lang="en-IN" dirty="0"/>
              <a:t>// ---------------- Portfolio Class ----------------</a:t>
            </a:r>
            <a:br>
              <a:rPr lang="en-IN" dirty="0"/>
            </a:br>
            <a:r>
              <a:rPr lang="en-IN" dirty="0"/>
              <a:t>class Portfolio {</a:t>
            </a:r>
            <a:br>
              <a:rPr lang="en-IN" dirty="0"/>
            </a:br>
            <a:r>
              <a:rPr lang="en-IN" dirty="0"/>
              <a:t>public:</a:t>
            </a:r>
            <a:br>
              <a:rPr lang="en-IN" dirty="0"/>
            </a:br>
            <a:r>
              <a:rPr lang="en-IN" dirty="0"/>
              <a:t>    Holdings </a:t>
            </a:r>
            <a:r>
              <a:rPr lang="en-IN" dirty="0" err="1"/>
              <a:t>holdings</a:t>
            </a:r>
            <a:r>
              <a:rPr lang="en-IN" dirty="0"/>
              <a:t>;</a:t>
            </a:r>
            <a:br>
              <a:rPr lang="en-IN" dirty="0"/>
            </a:br>
            <a:r>
              <a:rPr lang="en-IN" dirty="0"/>
              <a:t>    Targets </a:t>
            </a:r>
            <a:r>
              <a:rPr lang="en-IN" dirty="0" err="1"/>
              <a:t>targets</a:t>
            </a:r>
            <a:r>
              <a:rPr lang="en-IN" dirty="0"/>
              <a:t>;</a:t>
            </a:r>
            <a:br>
              <a:rPr lang="en-IN" dirty="0"/>
            </a:br>
            <a:r>
              <a:rPr lang="en-IN" dirty="0"/>
              <a:t>    map&lt;string, double&gt; prices;</a:t>
            </a:r>
            <a:br>
              <a:rPr lang="en-IN" dirty="0"/>
            </a:br>
            <a:br>
              <a:rPr lang="en-IN" dirty="0"/>
            </a:br>
            <a:br>
              <a:rPr lang="en-IN" dirty="0"/>
            </a:br>
            <a:r>
              <a:rPr lang="en-IN" dirty="0"/>
              <a:t>    // Constructor</a:t>
            </a:r>
            <a:br>
              <a:rPr lang="en-IN" dirty="0"/>
            </a:br>
            <a:r>
              <a:rPr lang="en-IN" dirty="0"/>
              <a:t>    Portfolio() {</a:t>
            </a:r>
            <a:br>
              <a:rPr lang="en-IN" dirty="0"/>
            </a:br>
            <a:r>
              <a:rPr lang="en-IN" dirty="0"/>
              <a:t>        </a:t>
            </a:r>
            <a:r>
              <a:rPr lang="en-IN" dirty="0" err="1"/>
              <a:t>holdings.load</a:t>
            </a:r>
            <a:r>
              <a:rPr lang="en-IN" dirty="0"/>
              <a:t>();</a:t>
            </a:r>
            <a:br>
              <a:rPr lang="en-IN" dirty="0"/>
            </a:br>
            <a:r>
              <a:rPr lang="en-IN" dirty="0"/>
              <a:t>        </a:t>
            </a:r>
            <a:r>
              <a:rPr lang="en-IN" dirty="0" err="1"/>
              <a:t>targets.load</a:t>
            </a:r>
            <a:r>
              <a:rPr lang="en-IN" dirty="0"/>
              <a:t>();</a:t>
            </a:r>
            <a:br>
              <a:rPr lang="en-IN" dirty="0"/>
            </a:br>
            <a:r>
              <a:rPr lang="en-IN" dirty="0"/>
              <a:t>        prices = { {"bitcoin", 30000}, {"</a:t>
            </a:r>
            <a:r>
              <a:rPr lang="en-IN" dirty="0" err="1"/>
              <a:t>ethereum</a:t>
            </a:r>
            <a:r>
              <a:rPr lang="en-IN" dirty="0"/>
              <a:t>", 2000}, {"</a:t>
            </a:r>
            <a:r>
              <a:rPr lang="en-IN" dirty="0" err="1"/>
              <a:t>cardano</a:t>
            </a:r>
            <a:r>
              <a:rPr lang="en-IN" dirty="0"/>
              <a:t>", 0.5} };</a:t>
            </a:r>
            <a:br>
              <a:rPr lang="en-IN" dirty="0"/>
            </a:br>
            <a:r>
              <a:rPr lang="en-IN" dirty="0"/>
              <a:t>    }</a:t>
            </a:r>
            <a:br>
              <a:rPr lang="en-IN" dirty="0"/>
            </a:br>
            <a:br>
              <a:rPr lang="en-IN" dirty="0"/>
            </a:br>
            <a:br>
              <a:rPr lang="en-IN" dirty="0"/>
            </a:br>
            <a:r>
              <a:rPr lang="en-IN" dirty="0"/>
              <a:t>    struct Valuation {</a:t>
            </a:r>
            <a:br>
              <a:rPr lang="en-IN" dirty="0"/>
            </a:br>
            <a:r>
              <a:rPr lang="en-IN" dirty="0"/>
              <a:t>        double </a:t>
            </a:r>
            <a:r>
              <a:rPr lang="en-IN" dirty="0" err="1"/>
              <a:t>total_usd</a:t>
            </a:r>
            <a:r>
              <a:rPr lang="en-IN" dirty="0"/>
              <a:t> = 0;</a:t>
            </a:r>
            <a:br>
              <a:rPr lang="en-IN" dirty="0"/>
            </a:br>
            <a:r>
              <a:rPr lang="en-IN" dirty="0"/>
              <a:t>        map&lt;string, double&gt; </a:t>
            </a:r>
            <a:r>
              <a:rPr lang="en-IN" dirty="0" err="1"/>
              <a:t>value_usd</a:t>
            </a:r>
            <a:r>
              <a:rPr lang="en-IN" dirty="0"/>
              <a:t>;</a:t>
            </a:r>
            <a:br>
              <a:rPr lang="en-IN" dirty="0"/>
            </a:br>
            <a:r>
              <a:rPr lang="en-IN" dirty="0"/>
              <a:t>        map&lt;string, double&gt; allocation;</a:t>
            </a:r>
            <a:br>
              <a:rPr lang="en-IN" dirty="0"/>
            </a:br>
            <a:r>
              <a:rPr lang="en-IN" dirty="0"/>
              <a:t>    };</a:t>
            </a:r>
            <a:br>
              <a:rPr lang="en-IN" dirty="0"/>
            </a:br>
            <a:br>
              <a:rPr lang="en-IN" dirty="0"/>
            </a:br>
            <a:br>
              <a:rPr lang="en-IN" dirty="0"/>
            </a:br>
            <a:r>
              <a:rPr lang="en-IN" dirty="0"/>
              <a:t>    Valuation </a:t>
            </a:r>
            <a:r>
              <a:rPr lang="en-IN" dirty="0" err="1"/>
              <a:t>value_portfolio</a:t>
            </a:r>
            <a:r>
              <a:rPr lang="en-IN" dirty="0"/>
              <a:t>() {</a:t>
            </a:r>
            <a:br>
              <a:rPr lang="en-IN" dirty="0"/>
            </a:br>
            <a:r>
              <a:rPr lang="en-IN" dirty="0"/>
              <a:t>        Valuation </a:t>
            </a:r>
            <a:r>
              <a:rPr lang="en-IN" dirty="0" err="1"/>
              <a:t>val</a:t>
            </a:r>
            <a:r>
              <a:rPr lang="en-IN" dirty="0"/>
              <a:t>;</a:t>
            </a:r>
            <a:br>
              <a:rPr lang="en-IN" dirty="0"/>
            </a:br>
            <a:r>
              <a:rPr lang="en-IN" dirty="0"/>
              <a:t>        for (auto &amp;</a:t>
            </a:r>
            <a:r>
              <a:rPr lang="en-IN" dirty="0" err="1"/>
              <a:t>kv</a:t>
            </a:r>
            <a:r>
              <a:rPr lang="en-IN" dirty="0"/>
              <a:t> : </a:t>
            </a:r>
            <a:r>
              <a:rPr lang="en-IN" dirty="0" err="1"/>
              <a:t>holdings.data</a:t>
            </a:r>
            <a:r>
              <a:rPr lang="en-IN" dirty="0"/>
              <a:t>) {</a:t>
            </a:r>
            <a:br>
              <a:rPr lang="en-IN" dirty="0"/>
            </a:br>
            <a:r>
              <a:rPr lang="en-IN" dirty="0"/>
              <a:t>            string </a:t>
            </a:r>
            <a:r>
              <a:rPr lang="en-IN" dirty="0" err="1"/>
              <a:t>sym</a:t>
            </a:r>
            <a:r>
              <a:rPr lang="en-IN" dirty="0"/>
              <a:t> = </a:t>
            </a:r>
            <a:r>
              <a:rPr lang="en-IN" dirty="0" err="1"/>
              <a:t>kv.first</a:t>
            </a:r>
            <a:r>
              <a:rPr lang="en-IN" dirty="0"/>
              <a:t>;</a:t>
            </a:r>
            <a:br>
              <a:rPr lang="en-IN" dirty="0"/>
            </a:br>
            <a:r>
              <a:rPr lang="en-IN" dirty="0"/>
              <a:t>            double qty = </a:t>
            </a:r>
            <a:r>
              <a:rPr lang="en-IN" dirty="0" err="1"/>
              <a:t>kv.second</a:t>
            </a:r>
            <a:r>
              <a:rPr lang="en-IN" dirty="0"/>
              <a:t>;</a:t>
            </a:r>
            <a:br>
              <a:rPr lang="en-IN" dirty="0"/>
            </a:br>
            <a:r>
              <a:rPr lang="en-IN" dirty="0"/>
              <a:t>            double price = </a:t>
            </a:r>
            <a:r>
              <a:rPr lang="en-IN" dirty="0" err="1"/>
              <a:t>prices.count</a:t>
            </a:r>
            <a:r>
              <a:rPr lang="en-IN" dirty="0"/>
              <a:t>(</a:t>
            </a:r>
            <a:r>
              <a:rPr lang="en-IN" dirty="0" err="1"/>
              <a:t>sym</a:t>
            </a:r>
            <a:r>
              <a:rPr lang="en-IN" dirty="0"/>
              <a:t>) ? prices[</a:t>
            </a:r>
            <a:r>
              <a:rPr lang="en-IN" dirty="0" err="1"/>
              <a:t>sym</a:t>
            </a:r>
            <a:r>
              <a:rPr lang="en-IN" dirty="0"/>
              <a:t>] : 0.0;</a:t>
            </a:r>
            <a:br>
              <a:rPr lang="en-IN" dirty="0"/>
            </a:br>
            <a:r>
              <a:rPr lang="en-IN" dirty="0"/>
              <a:t>            double value = qty * price;</a:t>
            </a:r>
            <a:br>
              <a:rPr lang="en-IN" dirty="0"/>
            </a:br>
            <a:r>
              <a:rPr lang="en-IN" dirty="0"/>
              <a:t>            </a:t>
            </a:r>
            <a:r>
              <a:rPr lang="en-IN" dirty="0" err="1"/>
              <a:t>val.value_usd</a:t>
            </a:r>
            <a:r>
              <a:rPr lang="en-IN" dirty="0"/>
              <a:t>[</a:t>
            </a:r>
            <a:r>
              <a:rPr lang="en-IN" dirty="0" err="1"/>
              <a:t>sym</a:t>
            </a:r>
            <a:r>
              <a:rPr lang="en-IN" dirty="0"/>
              <a:t>] = value;</a:t>
            </a:r>
            <a:br>
              <a:rPr lang="en-IN" dirty="0"/>
            </a:br>
            <a:r>
              <a:rPr lang="en-IN" dirty="0"/>
              <a:t>            </a:t>
            </a:r>
            <a:r>
              <a:rPr lang="en-IN" dirty="0" err="1"/>
              <a:t>val.total_usd</a:t>
            </a:r>
            <a:r>
              <a:rPr lang="en-IN" dirty="0"/>
              <a:t> += value;</a:t>
            </a:r>
            <a:br>
              <a:rPr lang="en-IN" dirty="0"/>
            </a:br>
            <a:r>
              <a:rPr lang="en-IN" dirty="0"/>
              <a:t>        }</a:t>
            </a:r>
            <a:br>
              <a:rPr lang="en-IN" dirty="0"/>
            </a:br>
            <a:r>
              <a:rPr lang="en-IN" dirty="0"/>
              <a:t>        for (auto &amp;</a:t>
            </a:r>
            <a:r>
              <a:rPr lang="en-IN" dirty="0" err="1"/>
              <a:t>kv</a:t>
            </a:r>
            <a:r>
              <a:rPr lang="en-IN" dirty="0"/>
              <a:t> : </a:t>
            </a:r>
            <a:r>
              <a:rPr lang="en-IN" dirty="0" err="1"/>
              <a:t>val.value_usd</a:t>
            </a:r>
            <a:r>
              <a:rPr lang="en-IN" dirty="0"/>
              <a:t>) {</a:t>
            </a:r>
            <a:br>
              <a:rPr lang="en-IN" dirty="0"/>
            </a:br>
            <a:r>
              <a:rPr lang="en-IN" dirty="0"/>
              <a:t>            </a:t>
            </a:r>
            <a:r>
              <a:rPr lang="en-IN" dirty="0" err="1"/>
              <a:t>val.allocation</a:t>
            </a:r>
            <a:r>
              <a:rPr lang="en-IN" dirty="0"/>
              <a:t>[</a:t>
            </a:r>
            <a:r>
              <a:rPr lang="en-IN" dirty="0" err="1"/>
              <a:t>kv.first</a:t>
            </a:r>
            <a:r>
              <a:rPr lang="en-IN" dirty="0"/>
              <a:t>] = (</a:t>
            </a:r>
            <a:r>
              <a:rPr lang="en-IN" dirty="0" err="1"/>
              <a:t>val.total_usd</a:t>
            </a:r>
            <a:r>
              <a:rPr lang="en-IN" dirty="0"/>
              <a:t> &gt; 0) ? </a:t>
            </a:r>
            <a:r>
              <a:rPr lang="en-IN" dirty="0" err="1"/>
              <a:t>kv.second</a:t>
            </a:r>
            <a:r>
              <a:rPr lang="en-IN" dirty="0"/>
              <a:t> / </a:t>
            </a:r>
            <a:r>
              <a:rPr lang="en-IN" dirty="0" err="1"/>
              <a:t>val.total_usd</a:t>
            </a:r>
            <a:r>
              <a:rPr lang="en-IN" dirty="0"/>
              <a:t> : 0.0;</a:t>
            </a:r>
            <a:br>
              <a:rPr lang="en-IN" dirty="0"/>
            </a:br>
            <a:r>
              <a:rPr lang="en-IN" dirty="0"/>
              <a:t>        }</a:t>
            </a:r>
            <a:br>
              <a:rPr lang="en-IN" dirty="0"/>
            </a:br>
            <a:r>
              <a:rPr lang="en-IN" dirty="0"/>
              <a:t>        return </a:t>
            </a:r>
            <a:r>
              <a:rPr lang="en-IN" dirty="0" err="1"/>
              <a:t>val</a:t>
            </a:r>
            <a:r>
              <a:rPr lang="en-IN" dirty="0"/>
              <a:t>;</a:t>
            </a:r>
            <a:br>
              <a:rPr lang="en-IN" dirty="0"/>
            </a:br>
            <a:r>
              <a:rPr lang="en-IN" dirty="0"/>
              <a:t>    }</a:t>
            </a:r>
            <a:br>
              <a:rPr lang="en-IN" dirty="0"/>
            </a:br>
            <a:r>
              <a:rPr lang="en-IN" dirty="0"/>
              <a:t>};</a:t>
            </a:r>
            <a:br>
              <a:rPr lang="en-IN" dirty="0"/>
            </a:br>
            <a:br>
              <a:rPr lang="en-IN" dirty="0"/>
            </a:br>
            <a:br>
              <a:rPr lang="en-IN" dirty="0"/>
            </a:br>
            <a:r>
              <a:rPr lang="en-IN" dirty="0"/>
              <a:t>// ---------------- Suggestion Class ----------------</a:t>
            </a:r>
            <a:br>
              <a:rPr lang="en-IN" dirty="0"/>
            </a:br>
            <a:r>
              <a:rPr lang="en-IN" dirty="0"/>
              <a:t>struct Suggestion {</a:t>
            </a:r>
            <a:br>
              <a:rPr lang="en-IN" dirty="0"/>
            </a:br>
            <a:r>
              <a:rPr lang="en-IN" dirty="0"/>
              <a:t>    string symbol;</a:t>
            </a:r>
            <a:br>
              <a:rPr lang="en-IN" dirty="0"/>
            </a:br>
            <a:r>
              <a:rPr lang="en-IN" dirty="0"/>
              <a:t>    double </a:t>
            </a:r>
            <a:r>
              <a:rPr lang="en-IN" dirty="0" err="1"/>
              <a:t>usd_to_trade</a:t>
            </a:r>
            <a:r>
              <a:rPr lang="en-IN" dirty="0"/>
              <a:t>;</a:t>
            </a:r>
            <a:br>
              <a:rPr lang="en-IN" dirty="0"/>
            </a:br>
            <a:r>
              <a:rPr lang="en-IN" dirty="0"/>
              <a:t>};</a:t>
            </a:r>
            <a:br>
              <a:rPr lang="en-IN" dirty="0"/>
            </a:br>
            <a:br>
              <a:rPr lang="en-IN" dirty="0"/>
            </a:br>
            <a:br>
              <a:rPr lang="en-IN" dirty="0"/>
            </a:br>
            <a:r>
              <a:rPr lang="en-IN" dirty="0"/>
              <a:t>// ---------------- Rebalancer ----------------</a:t>
            </a:r>
            <a:br>
              <a:rPr lang="en-IN" dirty="0"/>
            </a:br>
            <a:r>
              <a:rPr lang="en-IN" dirty="0"/>
              <a:t>class Rebalancer {</a:t>
            </a:r>
            <a:br>
              <a:rPr lang="en-IN" dirty="0"/>
            </a:br>
            <a:r>
              <a:rPr lang="en-IN" dirty="0"/>
              <a:t>public:</a:t>
            </a:r>
            <a:br>
              <a:rPr lang="en-IN" dirty="0"/>
            </a:br>
            <a:r>
              <a:rPr lang="en-IN" dirty="0"/>
              <a:t>    virtual vector&lt;Suggestion&gt; suggest(Portfolio::Valuation </a:t>
            </a:r>
            <a:r>
              <a:rPr lang="en-IN" dirty="0" err="1"/>
              <a:t>val</a:t>
            </a:r>
            <a:r>
              <a:rPr lang="en-IN" dirty="0"/>
              <a:t>,</a:t>
            </a:r>
            <a:br>
              <a:rPr lang="en-IN" dirty="0"/>
            </a:br>
            <a:r>
              <a:rPr lang="en-IN" dirty="0"/>
              <a:t>                                       </a:t>
            </a:r>
            <a:r>
              <a:rPr lang="en-IN" dirty="0" err="1"/>
              <a:t>const</a:t>
            </a:r>
            <a:r>
              <a:rPr lang="en-IN" dirty="0"/>
              <a:t> map&lt;string, double&gt; &amp;targets,</a:t>
            </a:r>
            <a:br>
              <a:rPr lang="en-IN" dirty="0"/>
            </a:br>
            <a:r>
              <a:rPr lang="en-IN" dirty="0"/>
              <a:t>                                       double threshold = 0.05) = 0;</a:t>
            </a:r>
            <a:br>
              <a:rPr lang="en-IN" dirty="0"/>
            </a:br>
            <a:r>
              <a:rPr lang="en-IN" dirty="0"/>
              <a:t>};</a:t>
            </a:r>
            <a:br>
              <a:rPr lang="en-IN" dirty="0"/>
            </a:br>
            <a:br>
              <a:rPr lang="en-IN" dirty="0"/>
            </a:br>
            <a:br>
              <a:rPr lang="en-IN" dirty="0"/>
            </a:br>
            <a:r>
              <a:rPr lang="en-IN" dirty="0"/>
              <a:t>// Concrete Rebalancer</a:t>
            </a:r>
            <a:br>
              <a:rPr lang="en-IN" dirty="0"/>
            </a:br>
            <a:r>
              <a:rPr lang="en-IN" dirty="0"/>
              <a:t>class </a:t>
            </a:r>
            <a:r>
              <a:rPr lang="en-IN" dirty="0" err="1"/>
              <a:t>SimpleRebalancer</a:t>
            </a:r>
            <a:r>
              <a:rPr lang="en-IN" dirty="0"/>
              <a:t> : public Rebalancer {</a:t>
            </a:r>
            <a:br>
              <a:rPr lang="en-IN" dirty="0"/>
            </a:br>
            <a:r>
              <a:rPr lang="en-IN" dirty="0"/>
              <a:t>public:</a:t>
            </a:r>
            <a:br>
              <a:rPr lang="en-IN" dirty="0"/>
            </a:br>
            <a:r>
              <a:rPr lang="en-IN" dirty="0"/>
              <a:t>    vector&lt;Suggestion&gt; suggest(Portfolio::Valuation </a:t>
            </a:r>
            <a:r>
              <a:rPr lang="en-IN" dirty="0" err="1"/>
              <a:t>val</a:t>
            </a:r>
            <a:r>
              <a:rPr lang="en-IN" dirty="0"/>
              <a:t>,</a:t>
            </a:r>
            <a:br>
              <a:rPr lang="en-IN" dirty="0"/>
            </a:br>
            <a:r>
              <a:rPr lang="en-IN" dirty="0"/>
              <a:t>                               </a:t>
            </a:r>
            <a:r>
              <a:rPr lang="en-IN" dirty="0" err="1"/>
              <a:t>const</a:t>
            </a:r>
            <a:r>
              <a:rPr lang="en-IN" dirty="0"/>
              <a:t> map&lt;string, double&gt; &amp;targets,</a:t>
            </a:r>
            <a:br>
              <a:rPr lang="en-IN" dirty="0"/>
            </a:br>
            <a:r>
              <a:rPr lang="en-IN" dirty="0"/>
              <a:t>                               double threshold = 0.05) override {</a:t>
            </a:r>
            <a:br>
              <a:rPr lang="en-IN" dirty="0"/>
            </a:br>
            <a:r>
              <a:rPr lang="en-IN" dirty="0"/>
              <a:t>        vector&lt;Suggestion&gt; out;</a:t>
            </a:r>
            <a:br>
              <a:rPr lang="en-IN" dirty="0"/>
            </a:br>
            <a:r>
              <a:rPr lang="en-IN" dirty="0"/>
              <a:t>        double total = </a:t>
            </a:r>
            <a:r>
              <a:rPr lang="en-IN" dirty="0" err="1"/>
              <a:t>val.total_usd</a:t>
            </a:r>
            <a:r>
              <a:rPr lang="en-IN" dirty="0"/>
              <a:t>;</a:t>
            </a:r>
            <a:br>
              <a:rPr lang="en-IN" dirty="0"/>
            </a:br>
            <a:r>
              <a:rPr lang="en-IN" dirty="0"/>
              <a:t>        if (total &lt;= 0) return out;</a:t>
            </a:r>
            <a:br>
              <a:rPr lang="en-IN" dirty="0"/>
            </a:br>
            <a:br>
              <a:rPr lang="en-IN" dirty="0"/>
            </a:br>
            <a:br>
              <a:rPr lang="en-IN" dirty="0"/>
            </a:br>
            <a:r>
              <a:rPr lang="en-IN" dirty="0"/>
              <a:t>        for (auto &amp;</a:t>
            </a:r>
            <a:r>
              <a:rPr lang="en-IN" dirty="0" err="1"/>
              <a:t>kv</a:t>
            </a:r>
            <a:r>
              <a:rPr lang="en-IN" dirty="0"/>
              <a:t> : targets) {</a:t>
            </a:r>
            <a:br>
              <a:rPr lang="en-IN" dirty="0"/>
            </a:br>
            <a:r>
              <a:rPr lang="en-IN" dirty="0"/>
              <a:t>            string </a:t>
            </a:r>
            <a:r>
              <a:rPr lang="en-IN" dirty="0" err="1"/>
              <a:t>sym</a:t>
            </a:r>
            <a:r>
              <a:rPr lang="en-IN" dirty="0"/>
              <a:t> = </a:t>
            </a:r>
            <a:r>
              <a:rPr lang="en-IN" dirty="0" err="1"/>
              <a:t>kv.first</a:t>
            </a:r>
            <a:r>
              <a:rPr lang="en-IN" dirty="0"/>
              <a:t>;</a:t>
            </a:r>
            <a:br>
              <a:rPr lang="en-IN" dirty="0"/>
            </a:br>
            <a:r>
              <a:rPr lang="en-IN" dirty="0"/>
              <a:t>            double </a:t>
            </a:r>
            <a:r>
              <a:rPr lang="en-IN" dirty="0" err="1"/>
              <a:t>target_pct</a:t>
            </a:r>
            <a:r>
              <a:rPr lang="en-IN" dirty="0"/>
              <a:t> = </a:t>
            </a:r>
            <a:r>
              <a:rPr lang="en-IN" dirty="0" err="1"/>
              <a:t>kv.second</a:t>
            </a:r>
            <a:r>
              <a:rPr lang="en-IN" dirty="0"/>
              <a:t>;</a:t>
            </a:r>
            <a:br>
              <a:rPr lang="en-IN" dirty="0"/>
            </a:br>
            <a:r>
              <a:rPr lang="en-IN" dirty="0"/>
              <a:t>            double </a:t>
            </a:r>
            <a:r>
              <a:rPr lang="en-IN" dirty="0" err="1"/>
              <a:t>current_pct</a:t>
            </a:r>
            <a:r>
              <a:rPr lang="en-IN" dirty="0"/>
              <a:t> = (</a:t>
            </a:r>
            <a:r>
              <a:rPr lang="en-IN" dirty="0" err="1"/>
              <a:t>val.allocation.count</a:t>
            </a:r>
            <a:r>
              <a:rPr lang="en-IN" dirty="0"/>
              <a:t>(</a:t>
            </a:r>
            <a:r>
              <a:rPr lang="en-IN" dirty="0" err="1"/>
              <a:t>sym</a:t>
            </a:r>
            <a:r>
              <a:rPr lang="en-IN" dirty="0"/>
              <a:t>) ? val.allocation.at(</a:t>
            </a:r>
            <a:r>
              <a:rPr lang="en-IN" dirty="0" err="1"/>
              <a:t>sym</a:t>
            </a:r>
            <a:r>
              <a:rPr lang="en-IN" dirty="0"/>
              <a:t>) : 0.0);</a:t>
            </a:r>
            <a:br>
              <a:rPr lang="en-IN" dirty="0"/>
            </a:br>
            <a:r>
              <a:rPr lang="en-IN" dirty="0"/>
              <a:t>            double diff = </a:t>
            </a:r>
            <a:r>
              <a:rPr lang="en-IN" dirty="0" err="1"/>
              <a:t>current_pct</a:t>
            </a:r>
            <a:r>
              <a:rPr lang="en-IN" dirty="0"/>
              <a:t> - </a:t>
            </a:r>
            <a:r>
              <a:rPr lang="en-IN" dirty="0" err="1"/>
              <a:t>target_pct</a:t>
            </a:r>
            <a:r>
              <a:rPr lang="en-IN" dirty="0"/>
              <a:t>;</a:t>
            </a:r>
            <a:br>
              <a:rPr lang="en-IN" dirty="0"/>
            </a:br>
            <a:r>
              <a:rPr lang="en-IN" dirty="0"/>
              <a:t>            if (fabs(diff) &gt; threshold) {</a:t>
            </a:r>
            <a:br>
              <a:rPr lang="en-IN" dirty="0"/>
            </a:br>
            <a:r>
              <a:rPr lang="en-IN" dirty="0"/>
              <a:t>                double </a:t>
            </a:r>
            <a:r>
              <a:rPr lang="en-IN" dirty="0" err="1"/>
              <a:t>usd</a:t>
            </a:r>
            <a:r>
              <a:rPr lang="en-IN" dirty="0"/>
              <a:t> = -diff * total;</a:t>
            </a:r>
            <a:br>
              <a:rPr lang="en-IN" dirty="0"/>
            </a:br>
            <a:r>
              <a:rPr lang="en-IN" dirty="0"/>
              <a:t>                </a:t>
            </a:r>
            <a:r>
              <a:rPr lang="en-IN" dirty="0" err="1"/>
              <a:t>usd</a:t>
            </a:r>
            <a:r>
              <a:rPr lang="en-IN" dirty="0"/>
              <a:t> = round(</a:t>
            </a:r>
            <a:r>
              <a:rPr lang="en-IN" dirty="0" err="1"/>
              <a:t>usd</a:t>
            </a:r>
            <a:r>
              <a:rPr lang="en-IN" dirty="0"/>
              <a:t> * 100.0) / 100.0;</a:t>
            </a:r>
            <a:br>
              <a:rPr lang="en-IN" dirty="0"/>
            </a:br>
            <a:r>
              <a:rPr lang="en-IN" dirty="0"/>
              <a:t>                </a:t>
            </a:r>
            <a:r>
              <a:rPr lang="en-IN" dirty="0" err="1"/>
              <a:t>out.push_back</a:t>
            </a:r>
            <a:r>
              <a:rPr lang="en-IN" dirty="0"/>
              <a:t>({</a:t>
            </a:r>
            <a:r>
              <a:rPr lang="en-IN" dirty="0" err="1"/>
              <a:t>sym</a:t>
            </a:r>
            <a:r>
              <a:rPr lang="en-IN" dirty="0"/>
              <a:t>, </a:t>
            </a:r>
            <a:r>
              <a:rPr lang="en-IN" dirty="0" err="1"/>
              <a:t>usd</a:t>
            </a:r>
            <a:r>
              <a:rPr lang="en-IN" dirty="0"/>
              <a:t>});</a:t>
            </a:r>
            <a:br>
              <a:rPr lang="en-IN" dirty="0"/>
            </a:br>
            <a:r>
              <a:rPr lang="en-IN" dirty="0"/>
              <a:t>            }</a:t>
            </a:r>
            <a:br>
              <a:rPr lang="en-IN" dirty="0"/>
            </a:br>
            <a:r>
              <a:rPr lang="en-IN" dirty="0"/>
              <a:t>        }</a:t>
            </a:r>
            <a:br>
              <a:rPr lang="en-IN" dirty="0"/>
            </a:br>
            <a:r>
              <a:rPr lang="en-IN" dirty="0"/>
              <a:t>        return out;</a:t>
            </a:r>
            <a:br>
              <a:rPr lang="en-IN" dirty="0"/>
            </a:br>
            <a:r>
              <a:rPr lang="en-IN" dirty="0"/>
              <a:t>    }</a:t>
            </a:r>
            <a:br>
              <a:rPr lang="en-IN" dirty="0"/>
            </a:br>
            <a:r>
              <a:rPr lang="en-IN" dirty="0"/>
              <a:t>};</a:t>
            </a:r>
            <a:br>
              <a:rPr lang="en-IN" dirty="0"/>
            </a:br>
            <a:br>
              <a:rPr lang="en-IN" dirty="0"/>
            </a:br>
            <a:br>
              <a:rPr lang="en-IN" dirty="0"/>
            </a:br>
            <a:r>
              <a:rPr lang="en-IN" dirty="0"/>
              <a:t>// ---------------- Menu ----------------</a:t>
            </a:r>
            <a:br>
              <a:rPr lang="en-IN" dirty="0"/>
            </a:br>
            <a:r>
              <a:rPr lang="en-IN" dirty="0"/>
              <a:t>void </a:t>
            </a:r>
            <a:r>
              <a:rPr lang="en-IN" dirty="0" err="1"/>
              <a:t>print_menu</a:t>
            </a:r>
            <a:r>
              <a:rPr lang="en-IN" dirty="0"/>
              <a:t>() {</a:t>
            </a:r>
            <a:br>
              <a:rPr lang="en-IN" dirty="0"/>
            </a:br>
            <a:r>
              <a:rPr lang="en-IN" dirty="0"/>
              <a:t>    </a:t>
            </a:r>
            <a:r>
              <a:rPr lang="en-IN" dirty="0" err="1"/>
              <a:t>cout</a:t>
            </a:r>
            <a:r>
              <a:rPr lang="en-IN" dirty="0"/>
              <a:t> &lt;&lt; "\n1. Add/Update Holding\n"</a:t>
            </a:r>
            <a:br>
              <a:rPr lang="en-IN" dirty="0"/>
            </a:br>
            <a:r>
              <a:rPr lang="en-IN" dirty="0"/>
              <a:t>         &lt;&lt; "2. Add/Update Target\n"</a:t>
            </a:r>
            <a:br>
              <a:rPr lang="en-IN" dirty="0"/>
            </a:br>
            <a:r>
              <a:rPr lang="en-IN" dirty="0"/>
              <a:t>         &lt;&lt; "3. Show Portfolio\n"</a:t>
            </a:r>
            <a:br>
              <a:rPr lang="en-IN" dirty="0"/>
            </a:br>
            <a:r>
              <a:rPr lang="en-IN" dirty="0"/>
              <a:t>         &lt;&lt; "4. Suggest Rebalance\n"</a:t>
            </a:r>
            <a:br>
              <a:rPr lang="en-IN" dirty="0"/>
            </a:br>
            <a:r>
              <a:rPr lang="en-IN" dirty="0"/>
              <a:t>         &lt;&lt; "5. Exit\n";</a:t>
            </a:r>
            <a:br>
              <a:rPr lang="en-IN" dirty="0"/>
            </a:br>
            <a:r>
              <a:rPr lang="en-IN" dirty="0"/>
              <a:t>}</a:t>
            </a:r>
            <a:br>
              <a:rPr lang="en-IN" dirty="0"/>
            </a:br>
            <a:br>
              <a:rPr lang="en-IN" dirty="0"/>
            </a:br>
            <a:br>
              <a:rPr lang="en-IN" dirty="0"/>
            </a:br>
            <a:r>
              <a:rPr lang="en-IN" dirty="0"/>
              <a:t>// ---------------- Main ----------------</a:t>
            </a:r>
            <a:br>
              <a:rPr lang="en-IN" dirty="0"/>
            </a:br>
            <a:r>
              <a:rPr lang="en-IN" dirty="0"/>
              <a:t>int main() {</a:t>
            </a:r>
            <a:br>
              <a:rPr lang="en-IN" dirty="0"/>
            </a:br>
            <a:r>
              <a:rPr lang="en-IN" dirty="0"/>
              <a:t>    Portfolio pf;</a:t>
            </a:r>
            <a:br>
              <a:rPr lang="en-IN" dirty="0"/>
            </a:br>
            <a:r>
              <a:rPr lang="en-IN" dirty="0"/>
              <a:t>    </a:t>
            </a:r>
            <a:r>
              <a:rPr lang="en-IN" dirty="0" err="1"/>
              <a:t>SimpleRebalancer</a:t>
            </a:r>
            <a:r>
              <a:rPr lang="en-IN" dirty="0"/>
              <a:t> rebalance;</a:t>
            </a:r>
            <a:br>
              <a:rPr lang="en-IN" dirty="0"/>
            </a:br>
            <a:r>
              <a:rPr lang="en-IN" dirty="0"/>
              <a:t>    </a:t>
            </a:r>
            <a:r>
              <a:rPr lang="en-IN" dirty="0" err="1"/>
              <a:t>cout</a:t>
            </a:r>
            <a:r>
              <a:rPr lang="en-IN" dirty="0"/>
              <a:t> &lt;&lt; "Crypto Portfolio Manager (OOP Clean C++)\n";</a:t>
            </a:r>
            <a:br>
              <a:rPr lang="en-IN" dirty="0"/>
            </a:br>
            <a:br>
              <a:rPr lang="en-IN" dirty="0"/>
            </a:br>
            <a:br>
              <a:rPr lang="en-IN" dirty="0"/>
            </a:br>
            <a:r>
              <a:rPr lang="en-IN" dirty="0"/>
              <a:t>    int choice;</a:t>
            </a:r>
            <a:br>
              <a:rPr lang="en-IN" dirty="0"/>
            </a:br>
            <a:r>
              <a:rPr lang="en-IN" dirty="0"/>
              <a:t>    while (true) {</a:t>
            </a:r>
            <a:br>
              <a:rPr lang="en-IN" dirty="0"/>
            </a:br>
            <a:r>
              <a:rPr lang="en-IN" dirty="0"/>
              <a:t>        </a:t>
            </a:r>
            <a:r>
              <a:rPr lang="en-IN" dirty="0" err="1"/>
              <a:t>print_menu</a:t>
            </a:r>
            <a:r>
              <a:rPr lang="en-IN" dirty="0"/>
              <a:t>();</a:t>
            </a:r>
            <a:br>
              <a:rPr lang="en-IN" dirty="0"/>
            </a:br>
            <a:r>
              <a:rPr lang="en-IN" dirty="0"/>
              <a:t>        </a:t>
            </a:r>
            <a:r>
              <a:rPr lang="en-IN" dirty="0" err="1"/>
              <a:t>cout</a:t>
            </a:r>
            <a:r>
              <a:rPr lang="en-IN" dirty="0"/>
              <a:t> &lt;&lt; "\</a:t>
            </a:r>
            <a:r>
              <a:rPr lang="en-IN" dirty="0" err="1"/>
              <a:t>nSelect</a:t>
            </a:r>
            <a:r>
              <a:rPr lang="en-IN" dirty="0"/>
              <a:t> option: ";</a:t>
            </a:r>
            <a:br>
              <a:rPr lang="en-IN" dirty="0"/>
            </a:br>
            <a:r>
              <a:rPr lang="en-IN" dirty="0"/>
              <a:t>        if (!(</a:t>
            </a:r>
            <a:r>
              <a:rPr lang="en-IN" dirty="0" err="1"/>
              <a:t>cin</a:t>
            </a:r>
            <a:r>
              <a:rPr lang="en-IN" dirty="0"/>
              <a:t> &gt;&gt; choice)) { </a:t>
            </a:r>
            <a:r>
              <a:rPr lang="en-IN" dirty="0" err="1"/>
              <a:t>cin.clear</a:t>
            </a:r>
            <a:r>
              <a:rPr lang="en-IN" dirty="0"/>
              <a:t>(); </a:t>
            </a:r>
            <a:r>
              <a:rPr lang="en-IN" dirty="0" err="1"/>
              <a:t>cin.ignore</a:t>
            </a:r>
            <a:r>
              <a:rPr lang="en-IN" dirty="0"/>
              <a:t>(10000,'\n'); continue; }</a:t>
            </a:r>
            <a:br>
              <a:rPr lang="en-IN" dirty="0"/>
            </a:br>
            <a:br>
              <a:rPr lang="en-IN" dirty="0"/>
            </a:br>
            <a:br>
              <a:rPr lang="en-IN" dirty="0"/>
            </a:br>
            <a:r>
              <a:rPr lang="en-IN" dirty="0"/>
              <a:t>        if (choice == 1) {</a:t>
            </a:r>
            <a:br>
              <a:rPr lang="en-IN" dirty="0"/>
            </a:br>
            <a:r>
              <a:rPr lang="en-IN" dirty="0"/>
              <a:t>            string </a:t>
            </a:r>
            <a:r>
              <a:rPr lang="en-IN" dirty="0" err="1"/>
              <a:t>sym</a:t>
            </a:r>
            <a:r>
              <a:rPr lang="en-IN" dirty="0"/>
              <a:t>; double qty;</a:t>
            </a:r>
            <a:br>
              <a:rPr lang="en-IN" dirty="0"/>
            </a:br>
            <a:r>
              <a:rPr lang="en-IN" dirty="0"/>
              <a:t>            </a:t>
            </a:r>
            <a:r>
              <a:rPr lang="en-IN" dirty="0" err="1"/>
              <a:t>cout</a:t>
            </a:r>
            <a:r>
              <a:rPr lang="en-IN" dirty="0"/>
              <a:t> &lt;&lt; "Symbol: "; </a:t>
            </a:r>
            <a:r>
              <a:rPr lang="en-IN" dirty="0" err="1"/>
              <a:t>cin</a:t>
            </a:r>
            <a:r>
              <a:rPr lang="en-IN" dirty="0"/>
              <a:t> &gt;&gt; </a:t>
            </a:r>
            <a:r>
              <a:rPr lang="en-IN" dirty="0" err="1"/>
              <a:t>sym</a:t>
            </a:r>
            <a:r>
              <a:rPr lang="en-IN" dirty="0"/>
              <a:t>;</a:t>
            </a:r>
            <a:br>
              <a:rPr lang="en-IN" dirty="0"/>
            </a:br>
            <a:r>
              <a:rPr lang="en-IN" dirty="0"/>
              <a:t>            </a:t>
            </a:r>
            <a:r>
              <a:rPr lang="en-IN" dirty="0" err="1"/>
              <a:t>cout</a:t>
            </a:r>
            <a:r>
              <a:rPr lang="en-IN" dirty="0"/>
              <a:t> &lt;&lt; "Quantity: "; </a:t>
            </a:r>
            <a:r>
              <a:rPr lang="en-IN" dirty="0" err="1"/>
              <a:t>cin</a:t>
            </a:r>
            <a:r>
              <a:rPr lang="en-IN" dirty="0"/>
              <a:t> &gt;&gt; qty;</a:t>
            </a:r>
            <a:br>
              <a:rPr lang="en-IN" dirty="0"/>
            </a:br>
            <a:r>
              <a:rPr lang="en-IN" dirty="0"/>
              <a:t>            </a:t>
            </a:r>
            <a:r>
              <a:rPr lang="en-IN" dirty="0" err="1"/>
              <a:t>pf.holdings.update</a:t>
            </a:r>
            <a:r>
              <a:rPr lang="en-IN" dirty="0"/>
              <a:t>(</a:t>
            </a:r>
            <a:r>
              <a:rPr lang="en-IN" dirty="0" err="1"/>
              <a:t>sym</a:t>
            </a:r>
            <a:r>
              <a:rPr lang="en-IN" dirty="0"/>
              <a:t>, qty);</a:t>
            </a:r>
            <a:br>
              <a:rPr lang="en-IN" dirty="0"/>
            </a:br>
            <a:r>
              <a:rPr lang="en-IN" dirty="0"/>
              <a:t>            </a:t>
            </a:r>
            <a:r>
              <a:rPr lang="en-IN" dirty="0" err="1"/>
              <a:t>cout</a:t>
            </a:r>
            <a:r>
              <a:rPr lang="en-IN" dirty="0"/>
              <a:t> &lt;&lt; "Saved holding " &lt;&lt; </a:t>
            </a:r>
            <a:r>
              <a:rPr lang="en-IN" dirty="0" err="1"/>
              <a:t>sym</a:t>
            </a:r>
            <a:r>
              <a:rPr lang="en-IN" dirty="0"/>
              <a:t> &lt;&lt; " = " &lt;&lt; qty &lt;&lt; "\n";</a:t>
            </a:r>
            <a:br>
              <a:rPr lang="en-IN" dirty="0"/>
            </a:br>
            <a:r>
              <a:rPr lang="en-IN" dirty="0"/>
              <a:t>        } </a:t>
            </a:r>
            <a:br>
              <a:rPr lang="en-IN" dirty="0"/>
            </a:br>
            <a:r>
              <a:rPr lang="en-IN" dirty="0"/>
              <a:t>        else if (choice == 2) {</a:t>
            </a:r>
            <a:br>
              <a:rPr lang="en-IN" dirty="0"/>
            </a:br>
            <a:r>
              <a:rPr lang="en-IN" dirty="0"/>
              <a:t>            string </a:t>
            </a:r>
            <a:r>
              <a:rPr lang="en-IN" dirty="0" err="1"/>
              <a:t>sym</a:t>
            </a:r>
            <a:r>
              <a:rPr lang="en-IN" dirty="0"/>
              <a:t>; double pct;</a:t>
            </a:r>
            <a:br>
              <a:rPr lang="en-IN" dirty="0"/>
            </a:br>
            <a:r>
              <a:rPr lang="en-IN" dirty="0"/>
              <a:t>            </a:t>
            </a:r>
            <a:r>
              <a:rPr lang="en-IN" dirty="0" err="1"/>
              <a:t>cout</a:t>
            </a:r>
            <a:r>
              <a:rPr lang="en-IN" dirty="0"/>
              <a:t> &lt;&lt; "Symbol: "; </a:t>
            </a:r>
            <a:r>
              <a:rPr lang="en-IN" dirty="0" err="1"/>
              <a:t>cin</a:t>
            </a:r>
            <a:r>
              <a:rPr lang="en-IN" dirty="0"/>
              <a:t> &gt;&gt; </a:t>
            </a:r>
            <a:r>
              <a:rPr lang="en-IN" dirty="0" err="1"/>
              <a:t>sym</a:t>
            </a:r>
            <a:r>
              <a:rPr lang="en-IN" dirty="0"/>
              <a:t>;</a:t>
            </a:r>
            <a:br>
              <a:rPr lang="en-IN" dirty="0"/>
            </a:br>
            <a:r>
              <a:rPr lang="en-IN" dirty="0"/>
              <a:t>            </a:t>
            </a:r>
            <a:r>
              <a:rPr lang="en-IN" dirty="0" err="1"/>
              <a:t>cout</a:t>
            </a:r>
            <a:r>
              <a:rPr lang="en-IN" dirty="0"/>
              <a:t> &lt;&lt; "Target percent (0-1): "; </a:t>
            </a:r>
            <a:r>
              <a:rPr lang="en-IN" dirty="0" err="1"/>
              <a:t>cin</a:t>
            </a:r>
            <a:r>
              <a:rPr lang="en-IN" dirty="0"/>
              <a:t> &gt;&gt; pct;</a:t>
            </a:r>
            <a:br>
              <a:rPr lang="en-IN" dirty="0"/>
            </a:br>
            <a:r>
              <a:rPr lang="en-IN" dirty="0"/>
              <a:t>            if (pct &lt; 0 || pct &gt; 1) { </a:t>
            </a:r>
            <a:r>
              <a:rPr lang="en-IN" dirty="0" err="1"/>
              <a:t>cout</a:t>
            </a:r>
            <a:r>
              <a:rPr lang="en-IN" dirty="0"/>
              <a:t> &lt;&lt; "Invalid percent.\n"; continue; }</a:t>
            </a:r>
            <a:br>
              <a:rPr lang="en-IN" dirty="0"/>
            </a:br>
            <a:r>
              <a:rPr lang="en-IN" dirty="0"/>
              <a:t>            </a:t>
            </a:r>
            <a:r>
              <a:rPr lang="en-IN" dirty="0" err="1"/>
              <a:t>pf.targets.update</a:t>
            </a:r>
            <a:r>
              <a:rPr lang="en-IN" dirty="0"/>
              <a:t>(</a:t>
            </a:r>
            <a:r>
              <a:rPr lang="en-IN" dirty="0" err="1"/>
              <a:t>sym</a:t>
            </a:r>
            <a:r>
              <a:rPr lang="en-IN" dirty="0"/>
              <a:t>, pct);</a:t>
            </a:r>
            <a:br>
              <a:rPr lang="en-IN" dirty="0"/>
            </a:br>
            <a:r>
              <a:rPr lang="en-IN" dirty="0"/>
              <a:t>            </a:t>
            </a:r>
            <a:r>
              <a:rPr lang="en-IN" dirty="0" err="1"/>
              <a:t>cout</a:t>
            </a:r>
            <a:r>
              <a:rPr lang="en-IN" dirty="0"/>
              <a:t> &lt;&lt; "Saved target " &lt;&lt; </a:t>
            </a:r>
            <a:r>
              <a:rPr lang="en-IN" dirty="0" err="1"/>
              <a:t>sym</a:t>
            </a:r>
            <a:r>
              <a:rPr lang="en-IN" dirty="0"/>
              <a:t> &lt;&lt; " = " &lt;&lt; pct &lt;&lt; "\n";</a:t>
            </a:r>
            <a:br>
              <a:rPr lang="en-IN" dirty="0"/>
            </a:br>
            <a:r>
              <a:rPr lang="en-IN" dirty="0"/>
              <a:t>        } </a:t>
            </a:r>
            <a:br>
              <a:rPr lang="en-IN" dirty="0"/>
            </a:br>
            <a:r>
              <a:rPr lang="en-IN" dirty="0"/>
              <a:t>        else if (choice == 3) {</a:t>
            </a:r>
            <a:br>
              <a:rPr lang="en-IN" dirty="0"/>
            </a:br>
            <a:r>
              <a:rPr lang="en-IN" dirty="0"/>
              <a:t>            auto </a:t>
            </a:r>
            <a:r>
              <a:rPr lang="en-IN" dirty="0" err="1"/>
              <a:t>val</a:t>
            </a:r>
            <a:r>
              <a:rPr lang="en-IN" dirty="0"/>
              <a:t> = </a:t>
            </a:r>
            <a:r>
              <a:rPr lang="en-IN" dirty="0" err="1"/>
              <a:t>pf.value_portfolio</a:t>
            </a:r>
            <a:r>
              <a:rPr lang="en-IN" dirty="0"/>
              <a:t>();</a:t>
            </a:r>
            <a:br>
              <a:rPr lang="en-IN" dirty="0"/>
            </a:br>
            <a:r>
              <a:rPr lang="en-IN" dirty="0"/>
              <a:t>            </a:t>
            </a:r>
            <a:r>
              <a:rPr lang="en-IN" dirty="0" err="1"/>
              <a:t>cout</a:t>
            </a:r>
            <a:r>
              <a:rPr lang="en-IN" dirty="0"/>
              <a:t> &lt;&lt; fixed &lt;&lt; </a:t>
            </a:r>
            <a:r>
              <a:rPr lang="en-IN" dirty="0" err="1"/>
              <a:t>setprecision</a:t>
            </a:r>
            <a:r>
              <a:rPr lang="en-IN" dirty="0"/>
              <a:t>(2);</a:t>
            </a:r>
            <a:br>
              <a:rPr lang="en-IN" dirty="0"/>
            </a:br>
            <a:r>
              <a:rPr lang="en-IN" dirty="0"/>
              <a:t>            </a:t>
            </a:r>
            <a:r>
              <a:rPr lang="en-IN" dirty="0" err="1"/>
              <a:t>cout</a:t>
            </a:r>
            <a:r>
              <a:rPr lang="en-IN" dirty="0"/>
              <a:t> &lt;&lt; "Total USD: $" &lt;&lt; </a:t>
            </a:r>
            <a:r>
              <a:rPr lang="en-IN" dirty="0" err="1"/>
              <a:t>val.total_usd</a:t>
            </a:r>
            <a:r>
              <a:rPr lang="en-IN" dirty="0"/>
              <a:t> &lt;&lt; "\n";</a:t>
            </a:r>
            <a:br>
              <a:rPr lang="en-IN" dirty="0"/>
            </a:br>
            <a:r>
              <a:rPr lang="en-IN" dirty="0"/>
              <a:t>            </a:t>
            </a:r>
            <a:r>
              <a:rPr lang="en-IN" dirty="0" err="1"/>
              <a:t>cout</a:t>
            </a:r>
            <a:r>
              <a:rPr lang="en-IN" dirty="0"/>
              <a:t> &lt;&lt; left &lt;&lt; </a:t>
            </a:r>
            <a:r>
              <a:rPr lang="en-IN" dirty="0" err="1"/>
              <a:t>setw</a:t>
            </a:r>
            <a:r>
              <a:rPr lang="en-IN" dirty="0"/>
              <a:t>(12) &lt;&lt; "SYMBOL" &lt;&lt; </a:t>
            </a:r>
            <a:r>
              <a:rPr lang="en-IN" dirty="0" err="1"/>
              <a:t>setw</a:t>
            </a:r>
            <a:r>
              <a:rPr lang="en-IN" dirty="0"/>
              <a:t>(12) &lt;&lt; "QTY"</a:t>
            </a:r>
            <a:br>
              <a:rPr lang="en-IN" dirty="0"/>
            </a:br>
            <a:r>
              <a:rPr lang="en-IN" dirty="0"/>
              <a:t>                 &lt;&lt; </a:t>
            </a:r>
            <a:r>
              <a:rPr lang="en-IN" dirty="0" err="1"/>
              <a:t>setw</a:t>
            </a:r>
            <a:r>
              <a:rPr lang="en-IN" dirty="0"/>
              <a:t>(12) &lt;&lt; "PRICE" &lt;&lt; </a:t>
            </a:r>
            <a:r>
              <a:rPr lang="en-IN" dirty="0" err="1"/>
              <a:t>setw</a:t>
            </a:r>
            <a:r>
              <a:rPr lang="en-IN" dirty="0"/>
              <a:t>(12) &lt;&lt; "VALUE" &lt;&lt; </a:t>
            </a:r>
            <a:r>
              <a:rPr lang="en-IN" dirty="0" err="1"/>
              <a:t>setw</a:t>
            </a:r>
            <a:r>
              <a:rPr lang="en-IN" dirty="0"/>
              <a:t>(10) &lt;&lt; "ALLOC\n";</a:t>
            </a:r>
            <a:br>
              <a:rPr lang="en-IN" dirty="0"/>
            </a:br>
            <a:r>
              <a:rPr lang="en-IN" dirty="0"/>
              <a:t>            for (auto &amp;</a:t>
            </a:r>
            <a:r>
              <a:rPr lang="en-IN" dirty="0" err="1"/>
              <a:t>kv</a:t>
            </a:r>
            <a:r>
              <a:rPr lang="en-IN" dirty="0"/>
              <a:t> : </a:t>
            </a:r>
            <a:r>
              <a:rPr lang="en-IN" dirty="0" err="1"/>
              <a:t>pf.holdings.data</a:t>
            </a:r>
            <a:r>
              <a:rPr lang="en-IN" dirty="0"/>
              <a:t>) {</a:t>
            </a:r>
            <a:br>
              <a:rPr lang="en-IN" dirty="0"/>
            </a:br>
            <a:r>
              <a:rPr lang="en-IN" dirty="0"/>
              <a:t>                string s = </a:t>
            </a:r>
            <a:r>
              <a:rPr lang="en-IN" dirty="0" err="1"/>
              <a:t>kv.first</a:t>
            </a:r>
            <a:r>
              <a:rPr lang="en-IN" dirty="0"/>
              <a:t>;</a:t>
            </a:r>
            <a:br>
              <a:rPr lang="en-IN" dirty="0"/>
            </a:br>
            <a:r>
              <a:rPr lang="en-IN" dirty="0"/>
              <a:t>                double q = </a:t>
            </a:r>
            <a:r>
              <a:rPr lang="en-IN" dirty="0" err="1"/>
              <a:t>kv.second</a:t>
            </a:r>
            <a:r>
              <a:rPr lang="en-IN" dirty="0"/>
              <a:t>;</a:t>
            </a:r>
            <a:br>
              <a:rPr lang="en-IN" dirty="0"/>
            </a:br>
            <a:r>
              <a:rPr lang="en-IN" dirty="0"/>
              <a:t>                double p = </a:t>
            </a:r>
            <a:r>
              <a:rPr lang="en-IN" dirty="0" err="1"/>
              <a:t>pf.prices.count</a:t>
            </a:r>
            <a:r>
              <a:rPr lang="en-IN" dirty="0"/>
              <a:t>(s) ? </a:t>
            </a:r>
            <a:r>
              <a:rPr lang="en-IN" dirty="0" err="1"/>
              <a:t>pf.prices</a:t>
            </a:r>
            <a:r>
              <a:rPr lang="en-IN" dirty="0"/>
              <a:t>[s] : 0.0;</a:t>
            </a:r>
            <a:br>
              <a:rPr lang="en-IN" dirty="0"/>
            </a:br>
            <a:r>
              <a:rPr lang="en-IN" dirty="0"/>
              <a:t>                double v = </a:t>
            </a:r>
            <a:r>
              <a:rPr lang="en-IN" dirty="0" err="1"/>
              <a:t>val.value_usd.count</a:t>
            </a:r>
            <a:r>
              <a:rPr lang="en-IN" dirty="0"/>
              <a:t>(s) ? </a:t>
            </a:r>
            <a:r>
              <a:rPr lang="en-IN" dirty="0" err="1"/>
              <a:t>val.value_usd</a:t>
            </a:r>
            <a:r>
              <a:rPr lang="en-IN" dirty="0"/>
              <a:t>[s] : 0.0;</a:t>
            </a:r>
            <a:br>
              <a:rPr lang="en-IN" dirty="0"/>
            </a:br>
            <a:r>
              <a:rPr lang="en-IN" dirty="0"/>
              <a:t>                double a = </a:t>
            </a:r>
            <a:r>
              <a:rPr lang="en-IN" dirty="0" err="1"/>
              <a:t>val.allocation.count</a:t>
            </a:r>
            <a:r>
              <a:rPr lang="en-IN" dirty="0"/>
              <a:t>(s) ? </a:t>
            </a:r>
            <a:r>
              <a:rPr lang="en-IN" dirty="0" err="1"/>
              <a:t>val.allocation</a:t>
            </a:r>
            <a:r>
              <a:rPr lang="en-IN" dirty="0"/>
              <a:t>[s]*100 : 0.0;</a:t>
            </a:r>
            <a:br>
              <a:rPr lang="en-IN" dirty="0"/>
            </a:br>
            <a:r>
              <a:rPr lang="en-IN" dirty="0"/>
              <a:t>                </a:t>
            </a:r>
            <a:r>
              <a:rPr lang="en-IN" dirty="0" err="1"/>
              <a:t>cout</a:t>
            </a:r>
            <a:r>
              <a:rPr lang="en-IN" dirty="0"/>
              <a:t> &lt;&lt; left &lt;&lt; </a:t>
            </a:r>
            <a:r>
              <a:rPr lang="en-IN" dirty="0" err="1"/>
              <a:t>setw</a:t>
            </a:r>
            <a:r>
              <a:rPr lang="en-IN" dirty="0"/>
              <a:t>(12) &lt;&lt; s</a:t>
            </a:r>
            <a:br>
              <a:rPr lang="en-IN" dirty="0"/>
            </a:br>
            <a:r>
              <a:rPr lang="en-IN" dirty="0"/>
              <a:t>                     &lt;&lt; </a:t>
            </a:r>
            <a:r>
              <a:rPr lang="en-IN" dirty="0" err="1"/>
              <a:t>setw</a:t>
            </a:r>
            <a:r>
              <a:rPr lang="en-IN" dirty="0"/>
              <a:t>(12) &lt;&lt; q</a:t>
            </a:r>
            <a:br>
              <a:rPr lang="en-IN" dirty="0"/>
            </a:br>
            <a:r>
              <a:rPr lang="en-IN" dirty="0"/>
              <a:t>                     &lt;&lt; </a:t>
            </a:r>
            <a:r>
              <a:rPr lang="en-IN" dirty="0" err="1"/>
              <a:t>setw</a:t>
            </a:r>
            <a:r>
              <a:rPr lang="en-IN" dirty="0"/>
              <a:t>(12) &lt;&lt; p</a:t>
            </a:r>
            <a:br>
              <a:rPr lang="en-IN" dirty="0"/>
            </a:br>
            <a:r>
              <a:rPr lang="en-IN" dirty="0"/>
              <a:t>                     &lt;&lt; </a:t>
            </a:r>
            <a:r>
              <a:rPr lang="en-IN" dirty="0" err="1"/>
              <a:t>setw</a:t>
            </a:r>
            <a:r>
              <a:rPr lang="en-IN" dirty="0"/>
              <a:t>(12) &lt;&lt; v</a:t>
            </a:r>
            <a:br>
              <a:rPr lang="en-IN" dirty="0"/>
            </a:br>
            <a:r>
              <a:rPr lang="en-IN" dirty="0"/>
              <a:t>                     &lt;&lt; </a:t>
            </a:r>
            <a:r>
              <a:rPr lang="en-IN" dirty="0" err="1"/>
              <a:t>setw</a:t>
            </a:r>
            <a:r>
              <a:rPr lang="en-IN" dirty="0"/>
              <a:t>(6) &lt;&lt; a &lt;&lt; "%\n";</a:t>
            </a:r>
            <a:br>
              <a:rPr lang="en-IN" dirty="0"/>
            </a:br>
            <a:r>
              <a:rPr lang="en-IN" dirty="0"/>
              <a:t>            }</a:t>
            </a:r>
            <a:br>
              <a:rPr lang="en-IN" dirty="0"/>
            </a:br>
            <a:r>
              <a:rPr lang="en-IN" dirty="0"/>
              <a:t>        }</a:t>
            </a:r>
            <a:br>
              <a:rPr lang="en-IN" dirty="0"/>
            </a:br>
            <a:r>
              <a:rPr lang="en-IN" dirty="0"/>
              <a:t>        else if (choice == 4) {</a:t>
            </a:r>
            <a:br>
              <a:rPr lang="en-IN" dirty="0"/>
            </a:br>
            <a:r>
              <a:rPr lang="en-IN" dirty="0"/>
              <a:t>            double threshold;</a:t>
            </a:r>
            <a:br>
              <a:rPr lang="en-IN" dirty="0"/>
            </a:br>
            <a:r>
              <a:rPr lang="en-IN" dirty="0"/>
              <a:t>            </a:t>
            </a:r>
            <a:r>
              <a:rPr lang="en-IN" dirty="0" err="1"/>
              <a:t>cout</a:t>
            </a:r>
            <a:r>
              <a:rPr lang="en-IN" dirty="0"/>
              <a:t> &lt;&lt; "Threshold (default 0.05): ";</a:t>
            </a:r>
            <a:br>
              <a:rPr lang="en-IN" dirty="0"/>
            </a:br>
            <a:r>
              <a:rPr lang="en-IN" dirty="0"/>
              <a:t>            if (!(</a:t>
            </a:r>
            <a:r>
              <a:rPr lang="en-IN" dirty="0" err="1"/>
              <a:t>cin</a:t>
            </a:r>
            <a:r>
              <a:rPr lang="en-IN" dirty="0"/>
              <a:t> &gt;&gt; threshold)) { threshold = 0.05; </a:t>
            </a:r>
            <a:r>
              <a:rPr lang="en-IN" dirty="0" err="1"/>
              <a:t>cin.clear</a:t>
            </a:r>
            <a:r>
              <a:rPr lang="en-IN" dirty="0"/>
              <a:t>(); </a:t>
            </a:r>
            <a:r>
              <a:rPr lang="en-IN" dirty="0" err="1"/>
              <a:t>cin.ignore</a:t>
            </a:r>
            <a:r>
              <a:rPr lang="en-IN" dirty="0"/>
              <a:t>(10000,'\n'); }</a:t>
            </a:r>
            <a:br>
              <a:rPr lang="en-IN" dirty="0"/>
            </a:br>
            <a:r>
              <a:rPr lang="en-IN" dirty="0"/>
              <a:t>            auto </a:t>
            </a:r>
            <a:r>
              <a:rPr lang="en-IN" dirty="0" err="1"/>
              <a:t>val</a:t>
            </a:r>
            <a:r>
              <a:rPr lang="en-IN" dirty="0"/>
              <a:t> = </a:t>
            </a:r>
            <a:r>
              <a:rPr lang="en-IN" dirty="0" err="1"/>
              <a:t>pf.value_portfolio</a:t>
            </a:r>
            <a:r>
              <a:rPr lang="en-IN" dirty="0"/>
              <a:t>();</a:t>
            </a:r>
            <a:br>
              <a:rPr lang="en-IN" dirty="0"/>
            </a:br>
            <a:r>
              <a:rPr lang="en-IN" dirty="0"/>
              <a:t>            auto suggestions = </a:t>
            </a:r>
            <a:r>
              <a:rPr lang="en-IN" dirty="0" err="1"/>
              <a:t>rebalance.suggest</a:t>
            </a:r>
            <a:r>
              <a:rPr lang="en-IN" dirty="0"/>
              <a:t>(</a:t>
            </a:r>
            <a:r>
              <a:rPr lang="en-IN" dirty="0" err="1"/>
              <a:t>val</a:t>
            </a:r>
            <a:r>
              <a:rPr lang="en-IN" dirty="0"/>
              <a:t>, </a:t>
            </a:r>
            <a:r>
              <a:rPr lang="en-IN" dirty="0" err="1"/>
              <a:t>pf.targets.data</a:t>
            </a:r>
            <a:r>
              <a:rPr lang="en-IN" dirty="0"/>
              <a:t>, threshold);</a:t>
            </a:r>
            <a:br>
              <a:rPr lang="en-IN" dirty="0"/>
            </a:br>
            <a:r>
              <a:rPr lang="en-IN" dirty="0"/>
              <a:t>            if (</a:t>
            </a:r>
            <a:r>
              <a:rPr lang="en-IN" dirty="0" err="1"/>
              <a:t>suggestions.empty</a:t>
            </a:r>
            <a:r>
              <a:rPr lang="en-IN" dirty="0"/>
              <a:t>()) </a:t>
            </a:r>
            <a:r>
              <a:rPr lang="en-IN" dirty="0" err="1"/>
              <a:t>cout</a:t>
            </a:r>
            <a:r>
              <a:rPr lang="en-IN" dirty="0"/>
              <a:t> &lt;&lt; "No suggestions (within threshold).\n";</a:t>
            </a:r>
            <a:br>
              <a:rPr lang="en-IN" dirty="0"/>
            </a:br>
            <a:r>
              <a:rPr lang="en-IN" dirty="0"/>
              <a:t>            else {</a:t>
            </a:r>
            <a:br>
              <a:rPr lang="en-IN" dirty="0"/>
            </a:br>
            <a:r>
              <a:rPr lang="en-IN" dirty="0"/>
              <a:t>                </a:t>
            </a:r>
            <a:r>
              <a:rPr lang="en-IN" dirty="0" err="1"/>
              <a:t>cout</a:t>
            </a:r>
            <a:r>
              <a:rPr lang="en-IN" dirty="0"/>
              <a:t> &lt;&lt; "Suggestions (positive=buy USD, negative=sell USD):\n";</a:t>
            </a:r>
            <a:br>
              <a:rPr lang="en-IN" dirty="0"/>
            </a:br>
            <a:r>
              <a:rPr lang="en-IN" dirty="0"/>
              <a:t>                for (auto &amp;s : suggestions)</a:t>
            </a:r>
            <a:br>
              <a:rPr lang="en-IN" dirty="0"/>
            </a:br>
            <a:r>
              <a:rPr lang="en-IN" dirty="0"/>
              <a:t>                    </a:t>
            </a:r>
            <a:r>
              <a:rPr lang="en-IN" dirty="0" err="1"/>
              <a:t>cout</a:t>
            </a:r>
            <a:r>
              <a:rPr lang="en-IN" dirty="0"/>
              <a:t> &lt;&lt; "  " &lt;&lt; </a:t>
            </a:r>
            <a:r>
              <a:rPr lang="en-IN" dirty="0" err="1"/>
              <a:t>setw</a:t>
            </a:r>
            <a:r>
              <a:rPr lang="en-IN" dirty="0"/>
              <a:t>(12) &lt;&lt; </a:t>
            </a:r>
            <a:r>
              <a:rPr lang="en-IN" dirty="0" err="1"/>
              <a:t>s.symbol</a:t>
            </a:r>
            <a:r>
              <a:rPr lang="en-IN" dirty="0"/>
              <a:t> &lt;&lt; " : " &lt;&lt; </a:t>
            </a:r>
            <a:r>
              <a:rPr lang="en-IN" dirty="0" err="1"/>
              <a:t>s.usd_to_trade</a:t>
            </a:r>
            <a:r>
              <a:rPr lang="en-IN" dirty="0"/>
              <a:t> &lt;&lt; " USD\n";</a:t>
            </a:r>
            <a:br>
              <a:rPr lang="en-IN" dirty="0"/>
            </a:br>
            <a:r>
              <a:rPr lang="en-IN" dirty="0"/>
              <a:t>            }</a:t>
            </a:r>
            <a:br>
              <a:rPr lang="en-IN" dirty="0"/>
            </a:br>
            <a:r>
              <a:rPr lang="en-IN" dirty="0"/>
              <a:t>        }</a:t>
            </a:r>
            <a:br>
              <a:rPr lang="en-IN" dirty="0"/>
            </a:br>
            <a:r>
              <a:rPr lang="en-IN" dirty="0"/>
              <a:t>        else if (choice == 5) break;</a:t>
            </a:r>
            <a:br>
              <a:rPr lang="en-IN" dirty="0"/>
            </a:br>
            <a:r>
              <a:rPr lang="en-IN" dirty="0"/>
              <a:t>        else </a:t>
            </a:r>
            <a:r>
              <a:rPr lang="en-IN" dirty="0" err="1"/>
              <a:t>cout</a:t>
            </a:r>
            <a:r>
              <a:rPr lang="en-IN" dirty="0"/>
              <a:t> &lt;&lt; "Invalid option\n";</a:t>
            </a:r>
            <a:br>
              <a:rPr lang="en-IN" dirty="0"/>
            </a:br>
            <a:r>
              <a:rPr lang="en-IN" dirty="0"/>
              <a:t>    }</a:t>
            </a:r>
            <a:br>
              <a:rPr lang="en-IN" dirty="0"/>
            </a:br>
            <a:br>
              <a:rPr lang="en-IN" dirty="0"/>
            </a:br>
            <a:br>
              <a:rPr lang="en-IN" dirty="0"/>
            </a:br>
            <a:r>
              <a:rPr lang="en-IN" dirty="0"/>
              <a:t>    </a:t>
            </a:r>
            <a:r>
              <a:rPr lang="en-IN" dirty="0" err="1"/>
              <a:t>cout</a:t>
            </a:r>
            <a:r>
              <a:rPr lang="en-IN" dirty="0"/>
              <a:t> &lt;&lt; "Bye\n";</a:t>
            </a:r>
            <a:br>
              <a:rPr lang="en-IN" dirty="0"/>
            </a:br>
            <a:r>
              <a:rPr lang="en-IN" dirty="0"/>
              <a:t>    return 0;</a:t>
            </a:r>
            <a:br>
              <a:rPr lang="en-IN" dirty="0"/>
            </a:br>
            <a:r>
              <a:rPr lang="en-IN" dirty="0"/>
              <a:t>}</a:t>
            </a:r>
            <a:br>
              <a:rPr lang="en-IN" dirty="0"/>
            </a:br>
            <a:br>
              <a:rPr lang="en-IN" dirty="0"/>
            </a:br>
            <a:br>
              <a:rPr lang="en-IN" dirty="0"/>
            </a:br>
            <a:r>
              <a:rPr lang="en-IN" dirty="0"/>
              <a:t>Concepts Used in Crypto Portfolio Manager</a:t>
            </a:r>
          </a:p>
        </p:txBody>
      </p:sp>
      <p:sp>
        <p:nvSpPr>
          <p:cNvPr id="3" name="Content Placeholder 2">
            <a:extLst>
              <a:ext uri="{FF2B5EF4-FFF2-40B4-BE49-F238E27FC236}">
                <a16:creationId xmlns:a16="http://schemas.microsoft.com/office/drawing/2014/main" id="{68C82BB4-BF26-E5D5-7669-33CC5FFB292B}"/>
              </a:ext>
            </a:extLst>
          </p:cNvPr>
          <p:cNvSpPr>
            <a:spLocks noGrp="1"/>
          </p:cNvSpPr>
          <p:nvPr>
            <p:ph idx="1"/>
          </p:nvPr>
        </p:nvSpPr>
        <p:spPr>
          <a:xfrm>
            <a:off x="581192" y="2228003"/>
            <a:ext cx="7989752" cy="4270768"/>
          </a:xfrm>
        </p:spPr>
        <p:txBody>
          <a:bodyPr>
            <a:noAutofit/>
          </a:bodyPr>
          <a:lstStyle/>
          <a:p>
            <a:r>
              <a:rPr lang="en-US" sz="2400" dirty="0">
                <a:latin typeface="Bahnschrift SemiBold" panose="020B0502040204020203" pitchFamily="34" charset="0"/>
              </a:rPr>
              <a:t>This project uses many C++ programming concepts to make it clean, modular, and easy to understand.</a:t>
            </a:r>
          </a:p>
          <a:p>
            <a:r>
              <a:rPr lang="en-US" sz="2400" dirty="0">
                <a:latin typeface="Bahnschrift SemiBold" panose="020B0502040204020203" pitchFamily="34" charset="0"/>
              </a:rPr>
              <a:t>1. Object-Oriented Programming (OOP): Uses classes, inheritance, abstraction, and polymorphism.</a:t>
            </a:r>
          </a:p>
          <a:p>
            <a:r>
              <a:rPr lang="en-US" sz="2400" dirty="0">
                <a:latin typeface="Bahnschrift SemiBold" panose="020B0502040204020203" pitchFamily="34" charset="0"/>
              </a:rPr>
              <a:t>   - </a:t>
            </a:r>
            <a:r>
              <a:rPr lang="en-US" sz="2400" dirty="0" err="1">
                <a:latin typeface="Bahnschrift SemiBold" panose="020B0502040204020203" pitchFamily="34" charset="0"/>
              </a:rPr>
              <a:t>IDataManager</a:t>
            </a:r>
            <a:r>
              <a:rPr lang="en-US" sz="2400" dirty="0">
                <a:latin typeface="Bahnschrift SemiBold" panose="020B0502040204020203" pitchFamily="34" charset="0"/>
              </a:rPr>
              <a:t> is an abstract base class with virtual functions.</a:t>
            </a:r>
          </a:p>
          <a:p>
            <a:r>
              <a:rPr lang="en-US" sz="2400" dirty="0">
                <a:latin typeface="Bahnschrift SemiBold" panose="020B0502040204020203" pitchFamily="34" charset="0"/>
              </a:rPr>
              <a:t> - Holdings and Targets inherit from </a:t>
            </a:r>
            <a:r>
              <a:rPr lang="en-US" sz="2400" dirty="0" err="1">
                <a:latin typeface="Bahnschrift SemiBold" panose="020B0502040204020203" pitchFamily="34" charset="0"/>
              </a:rPr>
              <a:t>IDataManager</a:t>
            </a:r>
            <a:r>
              <a:rPr lang="en-US" sz="2400" dirty="0">
                <a:latin typeface="Bahnschrift SemiBold" panose="020B0502040204020203" pitchFamily="34" charset="0"/>
              </a:rPr>
              <a:t>.</a:t>
            </a:r>
          </a:p>
          <a:p>
            <a:r>
              <a:rPr lang="en-US" sz="2400" dirty="0">
                <a:latin typeface="Bahnschrift SemiBold" panose="020B0502040204020203" pitchFamily="34" charset="0"/>
              </a:rPr>
              <a:t>   - Portfolio and Rebalancer classes use composition and logic.</a:t>
            </a:r>
          </a:p>
          <a:p>
            <a:endParaRPr lang="en-IN" sz="2400" dirty="0">
              <a:latin typeface="Bahnschrift SemiBold" panose="020B0502040204020203" pitchFamily="34" charset="0"/>
            </a:endParaRPr>
          </a:p>
        </p:txBody>
      </p:sp>
    </p:spTree>
    <p:extLst>
      <p:ext uri="{BB962C8B-B14F-4D97-AF65-F5344CB8AC3E}">
        <p14:creationId xmlns:p14="http://schemas.microsoft.com/office/powerpoint/2010/main" val="37027081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7A920-5CB5-2113-D14A-634CC22E908A}"/>
              </a:ext>
            </a:extLst>
          </p:cNvPr>
          <p:cNvSpPr>
            <a:spLocks noGrp="1"/>
          </p:cNvSpPr>
          <p:nvPr>
            <p:ph type="title"/>
          </p:nvPr>
        </p:nvSpPr>
        <p:spPr/>
        <p:txBody>
          <a:bodyPr/>
          <a:lstStyle/>
          <a:p>
            <a:r>
              <a:rPr lang="en-US" dirty="0" err="1"/>
              <a:t>Countinue</a:t>
            </a:r>
            <a:r>
              <a:rPr lang="en-US" dirty="0"/>
              <a:t>……</a:t>
            </a:r>
            <a:endParaRPr lang="en-IN" dirty="0"/>
          </a:p>
        </p:txBody>
      </p:sp>
      <p:sp>
        <p:nvSpPr>
          <p:cNvPr id="3" name="Content Placeholder 2">
            <a:extLst>
              <a:ext uri="{FF2B5EF4-FFF2-40B4-BE49-F238E27FC236}">
                <a16:creationId xmlns:a16="http://schemas.microsoft.com/office/drawing/2014/main" id="{346F2EA8-3771-1024-ED8D-5516B60A49DD}"/>
              </a:ext>
            </a:extLst>
          </p:cNvPr>
          <p:cNvSpPr>
            <a:spLocks noGrp="1"/>
          </p:cNvSpPr>
          <p:nvPr>
            <p:ph idx="1"/>
          </p:nvPr>
        </p:nvSpPr>
        <p:spPr/>
        <p:txBody>
          <a:bodyPr>
            <a:normAutofit/>
          </a:bodyPr>
          <a:lstStyle/>
          <a:p>
            <a:r>
              <a:rPr lang="en-US" sz="2400" dirty="0">
                <a:latin typeface="Bahnschrift SemiBold" panose="020B0502040204020203" pitchFamily="34" charset="0"/>
              </a:rPr>
              <a:t>2. File Handling: Uses </a:t>
            </a:r>
            <a:r>
              <a:rPr lang="en-US" sz="2400" dirty="0" err="1">
                <a:latin typeface="Bahnschrift SemiBold" panose="020B0502040204020203" pitchFamily="34" charset="0"/>
              </a:rPr>
              <a:t>ifstream</a:t>
            </a:r>
            <a:r>
              <a:rPr lang="en-US" sz="2400" dirty="0">
                <a:latin typeface="Bahnschrift SemiBold" panose="020B0502040204020203" pitchFamily="34" charset="0"/>
              </a:rPr>
              <a:t> and </a:t>
            </a:r>
            <a:r>
              <a:rPr lang="en-US" sz="2400" dirty="0" err="1">
                <a:latin typeface="Bahnschrift SemiBold" panose="020B0502040204020203" pitchFamily="34" charset="0"/>
              </a:rPr>
              <a:t>ofstream</a:t>
            </a:r>
            <a:r>
              <a:rPr lang="en-US" sz="2400" dirty="0">
                <a:latin typeface="Bahnschrift SemiBold" panose="020B0502040204020203" pitchFamily="34" charset="0"/>
              </a:rPr>
              <a:t> to read/write holdings.txt and targets.txt.</a:t>
            </a:r>
            <a:endParaRPr lang="en-IN" sz="2400" dirty="0">
              <a:latin typeface="Bahnschrift SemiBold" panose="020B0502040204020203" pitchFamily="34" charset="0"/>
            </a:endParaRPr>
          </a:p>
          <a:p>
            <a:r>
              <a:rPr lang="en-US" sz="2400" dirty="0">
                <a:latin typeface="Bahnschrift SemiBold" panose="020B0502040204020203" pitchFamily="34" charset="0"/>
              </a:rPr>
              <a:t>Data is saved permanently for user convenience.</a:t>
            </a:r>
            <a:endParaRPr lang="en-IN" sz="2400" dirty="0">
              <a:latin typeface="Bahnschrift SemiBold" panose="020B0502040204020203" pitchFamily="34" charset="0"/>
            </a:endParaRPr>
          </a:p>
          <a:p>
            <a:r>
              <a:rPr lang="en-US" sz="2400" dirty="0">
                <a:latin typeface="Bahnschrift SemiBold" panose="020B0502040204020203" pitchFamily="34" charset="0"/>
              </a:rPr>
              <a:t>3. STL Map: Uses map&lt;string, double&gt; to store crypto names and values.</a:t>
            </a:r>
            <a:endParaRPr lang="en-IN" sz="2400" dirty="0">
              <a:latin typeface="Bahnschrift SemiBold" panose="020B0502040204020203" pitchFamily="34" charset="0"/>
            </a:endParaRPr>
          </a:p>
          <a:p>
            <a:r>
              <a:rPr lang="en-US" sz="2400" dirty="0">
                <a:latin typeface="Bahnschrift SemiBold" panose="020B0502040204020203" pitchFamily="34" charset="0"/>
              </a:rPr>
              <a:t>Maps make data handling easy and fast.</a:t>
            </a:r>
            <a:endParaRPr lang="en-IN" sz="2400" dirty="0">
              <a:latin typeface="Bahnschrift SemiBold" panose="020B0502040204020203" pitchFamily="34" charset="0"/>
            </a:endParaRPr>
          </a:p>
          <a:p>
            <a:endParaRPr lang="en-IN" sz="2400" dirty="0">
              <a:latin typeface="Bahnschrift SemiBold" panose="020B0502040204020203" pitchFamily="34" charset="0"/>
            </a:endParaRPr>
          </a:p>
        </p:txBody>
      </p:sp>
    </p:spTree>
    <p:extLst>
      <p:ext uri="{BB962C8B-B14F-4D97-AF65-F5344CB8AC3E}">
        <p14:creationId xmlns:p14="http://schemas.microsoft.com/office/powerpoint/2010/main" val="20066368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AA709-8C7B-A2F5-2745-674473635055}"/>
              </a:ext>
            </a:extLst>
          </p:cNvPr>
          <p:cNvSpPr>
            <a:spLocks noGrp="1"/>
          </p:cNvSpPr>
          <p:nvPr>
            <p:ph type="title"/>
          </p:nvPr>
        </p:nvSpPr>
        <p:spPr/>
        <p:txBody>
          <a:bodyPr>
            <a:normAutofit/>
          </a:bodyPr>
          <a:lstStyle/>
          <a:p>
            <a:r>
              <a:rPr lang="en-IN" dirty="0"/>
              <a:t>Other Concepts and Logic</a:t>
            </a:r>
          </a:p>
        </p:txBody>
      </p:sp>
      <p:sp>
        <p:nvSpPr>
          <p:cNvPr id="3" name="Content Placeholder 2">
            <a:extLst>
              <a:ext uri="{FF2B5EF4-FFF2-40B4-BE49-F238E27FC236}">
                <a16:creationId xmlns:a16="http://schemas.microsoft.com/office/drawing/2014/main" id="{F1A4BFB3-C6A4-E2EF-0B2C-EC22D2974ADF}"/>
              </a:ext>
            </a:extLst>
          </p:cNvPr>
          <p:cNvSpPr>
            <a:spLocks noGrp="1"/>
          </p:cNvSpPr>
          <p:nvPr>
            <p:ph idx="1"/>
          </p:nvPr>
        </p:nvSpPr>
        <p:spPr>
          <a:xfrm>
            <a:off x="581192" y="2228003"/>
            <a:ext cx="7989752" cy="4074826"/>
          </a:xfrm>
        </p:spPr>
        <p:txBody>
          <a:bodyPr>
            <a:normAutofit/>
          </a:bodyPr>
          <a:lstStyle/>
          <a:p>
            <a:r>
              <a:rPr lang="en-US" sz="2400" dirty="0">
                <a:latin typeface="Bahnschrift SemiBold" panose="020B0502040204020203" pitchFamily="34" charset="0"/>
              </a:rPr>
              <a:t>4. Structs: Used to group related data like Suggestion and Valuation.</a:t>
            </a:r>
          </a:p>
          <a:p>
            <a:r>
              <a:rPr lang="en-US" sz="2400" dirty="0">
                <a:latin typeface="Bahnschrift SemiBold" panose="020B0502040204020203" pitchFamily="34" charset="0"/>
              </a:rPr>
              <a:t>5. Functions: Divides tasks (update, </a:t>
            </a:r>
            <a:r>
              <a:rPr lang="en-US" sz="2400" dirty="0" err="1">
                <a:latin typeface="Bahnschrift SemiBold" panose="020B0502040204020203" pitchFamily="34" charset="0"/>
              </a:rPr>
              <a:t>value_portfolio</a:t>
            </a:r>
            <a:r>
              <a:rPr lang="en-US" sz="2400" dirty="0">
                <a:latin typeface="Bahnschrift SemiBold" panose="020B0502040204020203" pitchFamily="34" charset="0"/>
              </a:rPr>
              <a:t>, </a:t>
            </a:r>
            <a:r>
              <a:rPr lang="en-US" sz="2400" dirty="0" err="1">
                <a:latin typeface="Bahnschrift SemiBold" panose="020B0502040204020203" pitchFamily="34" charset="0"/>
              </a:rPr>
              <a:t>print_menu</a:t>
            </a:r>
            <a:r>
              <a:rPr lang="en-US" sz="2400" dirty="0">
                <a:latin typeface="Bahnschrift SemiBold" panose="020B0502040204020203" pitchFamily="34" charset="0"/>
              </a:rPr>
              <a:t>) for modular design.</a:t>
            </a:r>
          </a:p>
          <a:p>
            <a:r>
              <a:rPr lang="en-US" sz="2400" dirty="0">
                <a:latin typeface="Bahnschrift SemiBold" panose="020B0502040204020203" pitchFamily="34" charset="0"/>
              </a:rPr>
              <a:t>6. Loops &amp; Conditionals: Menu system uses while(true) and if-else for flow control.</a:t>
            </a:r>
          </a:p>
          <a:p>
            <a:r>
              <a:rPr lang="en-US" sz="2400" dirty="0">
                <a:latin typeface="Bahnschrift SemiBold" panose="020B0502040204020203" pitchFamily="34" charset="0"/>
              </a:rPr>
              <a:t>7. Math &amp; Logic: Uses fabs(), round(), and calculations for rebalancing.</a:t>
            </a:r>
          </a:p>
          <a:p>
            <a:endParaRPr lang="en-IN" sz="2400" dirty="0">
              <a:latin typeface="Bahnschrift SemiBold" panose="020B0502040204020203" pitchFamily="34" charset="0"/>
            </a:endParaRPr>
          </a:p>
        </p:txBody>
      </p:sp>
    </p:spTree>
    <p:extLst>
      <p:ext uri="{BB962C8B-B14F-4D97-AF65-F5344CB8AC3E}">
        <p14:creationId xmlns:p14="http://schemas.microsoft.com/office/powerpoint/2010/main" val="21150738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EC815-1A34-11E3-4EC7-BF970C0D3FDD}"/>
              </a:ext>
            </a:extLst>
          </p:cNvPr>
          <p:cNvSpPr>
            <a:spLocks noGrp="1"/>
          </p:cNvSpPr>
          <p:nvPr>
            <p:ph type="title"/>
          </p:nvPr>
        </p:nvSpPr>
        <p:spPr/>
        <p:txBody>
          <a:bodyPr/>
          <a:lstStyle/>
          <a:p>
            <a:r>
              <a:rPr lang="en-US" dirty="0" err="1"/>
              <a:t>Countinue</a:t>
            </a:r>
            <a:r>
              <a:rPr lang="en-US" dirty="0"/>
              <a:t>……</a:t>
            </a:r>
            <a:endParaRPr lang="en-IN" dirty="0"/>
          </a:p>
        </p:txBody>
      </p:sp>
      <p:sp>
        <p:nvSpPr>
          <p:cNvPr id="3" name="Content Placeholder 2">
            <a:extLst>
              <a:ext uri="{FF2B5EF4-FFF2-40B4-BE49-F238E27FC236}">
                <a16:creationId xmlns:a16="http://schemas.microsoft.com/office/drawing/2014/main" id="{23F36B9B-90DE-7291-4032-A1B06EBC1511}"/>
              </a:ext>
            </a:extLst>
          </p:cNvPr>
          <p:cNvSpPr>
            <a:spLocks noGrp="1"/>
          </p:cNvSpPr>
          <p:nvPr>
            <p:ph idx="1"/>
          </p:nvPr>
        </p:nvSpPr>
        <p:spPr>
          <a:xfrm>
            <a:off x="581192" y="1110343"/>
            <a:ext cx="7989752" cy="4963886"/>
          </a:xfrm>
        </p:spPr>
        <p:txBody>
          <a:bodyPr>
            <a:normAutofit/>
          </a:bodyPr>
          <a:lstStyle/>
          <a:p>
            <a:pPr marL="0" indent="0">
              <a:buNone/>
            </a:pPr>
            <a:endParaRPr lang="en-US" sz="2400" dirty="0">
              <a:latin typeface="Bahnschrift SemiBold" panose="020B0502040204020203" pitchFamily="34" charset="0"/>
            </a:endParaRPr>
          </a:p>
          <a:p>
            <a:r>
              <a:rPr lang="en-US" sz="2400" dirty="0">
                <a:latin typeface="Bahnschrift SemiBold" panose="020B0502040204020203" pitchFamily="34" charset="0"/>
              </a:rPr>
              <a:t>5. Functions: Divides tasks (update, </a:t>
            </a:r>
            <a:r>
              <a:rPr lang="en-US" sz="2400" dirty="0" err="1">
                <a:latin typeface="Bahnschrift SemiBold" panose="020B0502040204020203" pitchFamily="34" charset="0"/>
              </a:rPr>
              <a:t>value_portfolio</a:t>
            </a:r>
            <a:r>
              <a:rPr lang="en-US" sz="2400" dirty="0">
                <a:latin typeface="Bahnschrift SemiBold" panose="020B0502040204020203" pitchFamily="34" charset="0"/>
              </a:rPr>
              <a:t>, </a:t>
            </a:r>
            <a:r>
              <a:rPr lang="en-US" sz="2400" dirty="0" err="1">
                <a:latin typeface="Bahnschrift SemiBold" panose="020B0502040204020203" pitchFamily="34" charset="0"/>
              </a:rPr>
              <a:t>print_menu</a:t>
            </a:r>
            <a:r>
              <a:rPr lang="en-US" sz="2400" dirty="0">
                <a:latin typeface="Bahnschrift SemiBold" panose="020B0502040204020203" pitchFamily="34" charset="0"/>
              </a:rPr>
              <a:t>) for modular design.</a:t>
            </a:r>
          </a:p>
          <a:p>
            <a:r>
              <a:rPr lang="en-US" sz="2400" dirty="0">
                <a:latin typeface="Bahnschrift SemiBold" panose="020B0502040204020203" pitchFamily="34" charset="0"/>
              </a:rPr>
              <a:t>6. Loops &amp; Conditionals: Menu system uses while(true) and if-else for flow control.</a:t>
            </a:r>
          </a:p>
          <a:p>
            <a:r>
              <a:rPr lang="en-US" sz="2400" dirty="0">
                <a:latin typeface="Bahnschrift SemiBold" panose="020B0502040204020203" pitchFamily="34" charset="0"/>
              </a:rPr>
              <a:t>7. Math &amp; Logic: Uses fabs(), round(), and calculations for rebalancing.</a:t>
            </a:r>
          </a:p>
          <a:p>
            <a:endParaRPr lang="en-IN" sz="2400" dirty="0">
              <a:latin typeface="Bahnschrift SemiBold" panose="020B0502040204020203" pitchFamily="34" charset="0"/>
            </a:endParaRPr>
          </a:p>
        </p:txBody>
      </p:sp>
    </p:spTree>
    <p:extLst>
      <p:ext uri="{BB962C8B-B14F-4D97-AF65-F5344CB8AC3E}">
        <p14:creationId xmlns:p14="http://schemas.microsoft.com/office/powerpoint/2010/main" val="2338494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Prices and Valuation</a:t>
            </a:r>
          </a:p>
        </p:txBody>
      </p:sp>
      <p:sp>
        <p:nvSpPr>
          <p:cNvPr id="3" name="Content Placeholder 2"/>
          <p:cNvSpPr>
            <a:spLocks noGrp="1"/>
          </p:cNvSpPr>
          <p:nvPr>
            <p:ph idx="1"/>
          </p:nvPr>
        </p:nvSpPr>
        <p:spPr/>
        <p:txBody>
          <a:bodyPr>
            <a:normAutofit/>
          </a:bodyPr>
          <a:lstStyle/>
          <a:p>
            <a:r>
              <a:rPr sz="2400" dirty="0">
                <a:latin typeface="Bahnschrift SemiBold" panose="020B0502040204020203" pitchFamily="34" charset="0"/>
              </a:rPr>
              <a:t>The program already has simple price values set for Bitcoin, Ethereum, and Cardano. When you enter your holdings, the program multiplies quantity with the price to calculate the total value. It then shows you:</a:t>
            </a:r>
          </a:p>
          <a:p>
            <a:r>
              <a:rPr sz="2400" dirty="0">
                <a:latin typeface="Bahnschrift SemiBold" panose="020B0502040204020203" pitchFamily="34" charset="0"/>
              </a:rPr>
              <a:t>- Total portfolio value</a:t>
            </a:r>
          </a:p>
          <a:p>
            <a:r>
              <a:rPr sz="2400" dirty="0">
                <a:latin typeface="Bahnschrift SemiBold" panose="020B0502040204020203" pitchFamily="34" charset="0"/>
              </a:rPr>
              <a:t>- Value of each crypto</a:t>
            </a:r>
          </a:p>
          <a:p>
            <a:r>
              <a:rPr sz="2400" dirty="0">
                <a:latin typeface="Bahnschrift SemiBold" panose="020B0502040204020203" pitchFamily="34" charset="0"/>
              </a:rPr>
              <a:t>- Percentage allocation of each crypto</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is Rebalancing?</a:t>
            </a:r>
          </a:p>
        </p:txBody>
      </p:sp>
      <p:sp>
        <p:nvSpPr>
          <p:cNvPr id="3" name="Content Placeholder 2"/>
          <p:cNvSpPr>
            <a:spLocks noGrp="1"/>
          </p:cNvSpPr>
          <p:nvPr>
            <p:ph idx="1"/>
          </p:nvPr>
        </p:nvSpPr>
        <p:spPr/>
        <p:txBody>
          <a:bodyPr>
            <a:normAutofit/>
          </a:bodyPr>
          <a:lstStyle/>
          <a:p>
            <a:r>
              <a:rPr sz="2400" dirty="0">
                <a:latin typeface="Bahnschrift SemiBold" panose="020B0502040204020203" pitchFamily="34" charset="0"/>
              </a:rPr>
              <a:t>Rebalancing means adjusting your portfolio so that your current allocation matches your target allocation. For example, if you want 50% Bitcoin and 50% Ethereum, but right now Bitcoin is 70% of your portfolio, the program will suggest selling some Bitcoin and buying Ethereum.</a:t>
            </a:r>
          </a:p>
          <a:p>
            <a:endParaRPr sz="2400" dirty="0">
              <a:latin typeface="Bahnschrift SemiBold" panose="020B0502040204020203" pitchFamily="34" charset="0"/>
            </a:endParaRPr>
          </a:p>
          <a:p>
            <a:r>
              <a:rPr sz="2400" dirty="0">
                <a:latin typeface="Bahnschrift SemiBold" panose="020B0502040204020203" pitchFamily="34" charset="0"/>
              </a:rPr>
              <a:t>This keeps your investments aligned with your goals.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Menu System</a:t>
            </a:r>
          </a:p>
        </p:txBody>
      </p:sp>
      <p:sp>
        <p:nvSpPr>
          <p:cNvPr id="3" name="Content Placeholder 2"/>
          <p:cNvSpPr>
            <a:spLocks noGrp="1"/>
          </p:cNvSpPr>
          <p:nvPr>
            <p:ph idx="1"/>
          </p:nvPr>
        </p:nvSpPr>
        <p:spPr>
          <a:xfrm>
            <a:off x="581192" y="2228003"/>
            <a:ext cx="7989752" cy="3942523"/>
          </a:xfrm>
        </p:spPr>
        <p:txBody>
          <a:bodyPr>
            <a:noAutofit/>
          </a:bodyPr>
          <a:lstStyle/>
          <a:p>
            <a:r>
              <a:rPr sz="2400" dirty="0">
                <a:latin typeface="Bahnschrift SemiBold" panose="020B0502040204020203" pitchFamily="34" charset="0"/>
              </a:rPr>
              <a:t>The program is fully menu-driven and interactive. The options are:</a:t>
            </a:r>
          </a:p>
          <a:p>
            <a:r>
              <a:rPr sz="2400" dirty="0">
                <a:latin typeface="Bahnschrift SemiBold" panose="020B0502040204020203" pitchFamily="34" charset="0"/>
              </a:rPr>
              <a:t>1. Add or update holdings.</a:t>
            </a:r>
          </a:p>
          <a:p>
            <a:r>
              <a:rPr sz="2400" dirty="0">
                <a:latin typeface="Bahnschrift SemiBold" panose="020B0502040204020203" pitchFamily="34" charset="0"/>
              </a:rPr>
              <a:t>2. Add or update target percentages.</a:t>
            </a:r>
          </a:p>
          <a:p>
            <a:r>
              <a:rPr sz="2400" dirty="0">
                <a:latin typeface="Bahnschrift SemiBold" panose="020B0502040204020203" pitchFamily="34" charset="0"/>
              </a:rPr>
              <a:t>3. Show portfolio value and allocations.</a:t>
            </a:r>
          </a:p>
          <a:p>
            <a:r>
              <a:rPr sz="2400" dirty="0">
                <a:latin typeface="Bahnschrift SemiBold" panose="020B0502040204020203" pitchFamily="34" charset="0"/>
              </a:rPr>
              <a:t>4. Suggest rebalancing actions.</a:t>
            </a:r>
          </a:p>
          <a:p>
            <a:r>
              <a:rPr sz="2400" dirty="0">
                <a:latin typeface="Bahnschrift SemiBold" panose="020B0502040204020203" pitchFamily="34" charset="0"/>
              </a:rPr>
              <a:t>5. Exit the program.</a:t>
            </a:r>
          </a:p>
          <a:p>
            <a:endParaRPr sz="2400" dirty="0">
              <a:latin typeface="Bahnschrift SemiBold" panose="020B0502040204020203" pitchFamily="34" charset="0"/>
            </a:endParaRPr>
          </a:p>
          <a:p>
            <a:r>
              <a:rPr sz="2400" dirty="0">
                <a:latin typeface="Bahnschrift SemiBold" panose="020B0502040204020203" pitchFamily="34" charset="0"/>
              </a:rPr>
              <a:t>This makes it very easy to use step by step.</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Example Output</a:t>
            </a:r>
          </a:p>
        </p:txBody>
      </p:sp>
      <p:sp>
        <p:nvSpPr>
          <p:cNvPr id="3" name="Content Placeholder 2"/>
          <p:cNvSpPr>
            <a:spLocks noGrp="1"/>
          </p:cNvSpPr>
          <p:nvPr>
            <p:ph idx="1"/>
          </p:nvPr>
        </p:nvSpPr>
        <p:spPr>
          <a:xfrm>
            <a:off x="581192" y="2228003"/>
            <a:ext cx="7989752" cy="4042168"/>
          </a:xfrm>
        </p:spPr>
        <p:txBody>
          <a:bodyPr>
            <a:noAutofit/>
          </a:bodyPr>
          <a:lstStyle/>
          <a:p>
            <a:r>
              <a:rPr sz="2400" dirty="0">
                <a:latin typeface="Bahnschrift SemiBold" panose="020B0502040204020203" pitchFamily="34" charset="0"/>
              </a:rPr>
              <a:t>When you enter some holdings, the program will show something like:</a:t>
            </a:r>
          </a:p>
          <a:p>
            <a:endParaRPr sz="2400" dirty="0">
              <a:latin typeface="Bahnschrift SemiBold" panose="020B0502040204020203" pitchFamily="34" charset="0"/>
            </a:endParaRPr>
          </a:p>
          <a:p>
            <a:r>
              <a:rPr sz="2400" dirty="0">
                <a:latin typeface="Bahnschrift SemiBold" panose="020B0502040204020203" pitchFamily="34" charset="0"/>
              </a:rPr>
              <a:t>Total USD: $10000</a:t>
            </a:r>
          </a:p>
          <a:p>
            <a:r>
              <a:rPr sz="2400" dirty="0">
                <a:latin typeface="Bahnschrift SemiBold" panose="020B0502040204020203" pitchFamily="34" charset="0"/>
              </a:rPr>
              <a:t>SYMBOL       QTY     PRICE     VALUE     ALLOC</a:t>
            </a:r>
          </a:p>
          <a:p>
            <a:r>
              <a:rPr sz="2400" dirty="0">
                <a:latin typeface="Bahnschrift SemiBold" panose="020B0502040204020203" pitchFamily="34" charset="0"/>
              </a:rPr>
              <a:t>bitcoin      0.2     30000     6000      60%</a:t>
            </a:r>
          </a:p>
          <a:p>
            <a:r>
              <a:rPr sz="2400" dirty="0" err="1">
                <a:latin typeface="Bahnschrift SemiBold" panose="020B0502040204020203" pitchFamily="34" charset="0"/>
              </a:rPr>
              <a:t>ethereum</a:t>
            </a:r>
            <a:r>
              <a:rPr sz="2400" dirty="0">
                <a:latin typeface="Bahnschrift SemiBold" panose="020B0502040204020203" pitchFamily="34" charset="0"/>
              </a:rPr>
              <a:t>     2.0     2000      4000      40%</a:t>
            </a:r>
          </a:p>
          <a:p>
            <a:endParaRPr sz="2400" dirty="0">
              <a:latin typeface="Bahnschrift SemiBold" panose="020B0502040204020203" pitchFamily="34" charset="0"/>
            </a:endParaRPr>
          </a:p>
          <a:p>
            <a:r>
              <a:rPr sz="2400" dirty="0">
                <a:latin typeface="Bahnschrift SemiBold" panose="020B0502040204020203" pitchFamily="34" charset="0"/>
              </a:rPr>
              <a:t>This gives you a clear and simple summary.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Rebalancing Suggestions Example</a:t>
            </a:r>
          </a:p>
        </p:txBody>
      </p:sp>
      <p:sp>
        <p:nvSpPr>
          <p:cNvPr id="3" name="Content Placeholder 2"/>
          <p:cNvSpPr>
            <a:spLocks noGrp="1"/>
          </p:cNvSpPr>
          <p:nvPr>
            <p:ph idx="1"/>
          </p:nvPr>
        </p:nvSpPr>
        <p:spPr>
          <a:xfrm>
            <a:off x="581192" y="2228003"/>
            <a:ext cx="7989752" cy="4053054"/>
          </a:xfrm>
        </p:spPr>
        <p:txBody>
          <a:bodyPr>
            <a:noAutofit/>
          </a:bodyPr>
          <a:lstStyle/>
          <a:p>
            <a:r>
              <a:rPr sz="2400" dirty="0">
                <a:latin typeface="Bahnschrift SemiBold" panose="020B0502040204020203" pitchFamily="34" charset="0"/>
              </a:rPr>
              <a:t>If your targets are Bitcoin 50% and Ethereum 50%, but your current portfolio is Bitcoin 60% and Ethereum 40%, the program may suggest:</a:t>
            </a:r>
          </a:p>
          <a:p>
            <a:endParaRPr sz="2400" dirty="0">
              <a:latin typeface="Bahnschrift SemiBold" panose="020B0502040204020203" pitchFamily="34" charset="0"/>
            </a:endParaRPr>
          </a:p>
          <a:p>
            <a:r>
              <a:rPr sz="2400" dirty="0">
                <a:latin typeface="Bahnschrift SemiBold" panose="020B0502040204020203" pitchFamily="34" charset="0"/>
              </a:rPr>
              <a:t>  bitcoin  : -1000 USD</a:t>
            </a:r>
          </a:p>
          <a:p>
            <a:r>
              <a:rPr sz="2400" dirty="0">
                <a:latin typeface="Bahnschrift SemiBold" panose="020B0502040204020203" pitchFamily="34" charset="0"/>
              </a:rPr>
              <a:t>  </a:t>
            </a:r>
            <a:r>
              <a:rPr sz="2400" dirty="0" err="1">
                <a:latin typeface="Bahnschrift SemiBold" panose="020B0502040204020203" pitchFamily="34" charset="0"/>
              </a:rPr>
              <a:t>ethereum</a:t>
            </a:r>
            <a:r>
              <a:rPr sz="2400" dirty="0">
                <a:latin typeface="Bahnschrift SemiBold" panose="020B0502040204020203" pitchFamily="34" charset="0"/>
              </a:rPr>
              <a:t> : +1000 USD</a:t>
            </a:r>
          </a:p>
          <a:p>
            <a:endParaRPr sz="2400" dirty="0">
              <a:latin typeface="Bahnschrift SemiBold" panose="020B0502040204020203" pitchFamily="34" charset="0"/>
            </a:endParaRPr>
          </a:p>
          <a:p>
            <a:r>
              <a:rPr sz="2400" dirty="0">
                <a:latin typeface="Bahnschrift SemiBold" panose="020B0502040204020203" pitchFamily="34" charset="0"/>
              </a:rPr>
              <a:t>This means you should sell $1000 of Bitcoin and buy $1000 of Ethereum.</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This Project is Useful</a:t>
            </a:r>
          </a:p>
        </p:txBody>
      </p:sp>
      <p:sp>
        <p:nvSpPr>
          <p:cNvPr id="3" name="Content Placeholder 2"/>
          <p:cNvSpPr>
            <a:spLocks noGrp="1"/>
          </p:cNvSpPr>
          <p:nvPr>
            <p:ph idx="1"/>
          </p:nvPr>
        </p:nvSpPr>
        <p:spPr>
          <a:xfrm>
            <a:off x="581192" y="2228003"/>
            <a:ext cx="7989752" cy="3942523"/>
          </a:xfrm>
        </p:spPr>
        <p:txBody>
          <a:bodyPr>
            <a:noAutofit/>
          </a:bodyPr>
          <a:lstStyle/>
          <a:p>
            <a:r>
              <a:rPr sz="2400" dirty="0">
                <a:latin typeface="Bahnschrift SemiBold" panose="020B0502040204020203" pitchFamily="34" charset="0"/>
              </a:rPr>
              <a:t>This project teaches how to:</a:t>
            </a:r>
          </a:p>
          <a:p>
            <a:r>
              <a:rPr sz="2400" dirty="0">
                <a:latin typeface="Bahnschrift SemiBold" panose="020B0502040204020203" pitchFamily="34" charset="0"/>
              </a:rPr>
              <a:t>- Use C++ maps to store data.</a:t>
            </a:r>
          </a:p>
          <a:p>
            <a:r>
              <a:rPr sz="2400" dirty="0">
                <a:latin typeface="Bahnschrift SemiBold" panose="020B0502040204020203" pitchFamily="34" charset="0"/>
              </a:rPr>
              <a:t>- Read and write from text files.</a:t>
            </a:r>
          </a:p>
          <a:p>
            <a:r>
              <a:rPr sz="2400" dirty="0">
                <a:latin typeface="Bahnschrift SemiBold" panose="020B0502040204020203" pitchFamily="34" charset="0"/>
              </a:rPr>
              <a:t>- Perform calculations on data.</a:t>
            </a:r>
          </a:p>
          <a:p>
            <a:r>
              <a:rPr sz="2400" dirty="0">
                <a:latin typeface="Bahnschrift SemiBold" panose="020B0502040204020203" pitchFamily="34" charset="0"/>
              </a:rPr>
              <a:t>- Work with percentages and allocations.</a:t>
            </a:r>
          </a:p>
          <a:p>
            <a:r>
              <a:rPr sz="2400" dirty="0">
                <a:latin typeface="Bahnschrift SemiBold" panose="020B0502040204020203" pitchFamily="34" charset="0"/>
              </a:rPr>
              <a:t>- Build a simple, interactive menu </a:t>
            </a:r>
            <a:r>
              <a:rPr sz="2400">
                <a:latin typeface="Bahnschrift SemiBold" panose="020B0502040204020203" pitchFamily="34" charset="0"/>
              </a:rPr>
              <a:t>system.</a:t>
            </a:r>
            <a:endParaRPr sz="2400" dirty="0">
              <a:latin typeface="Bahnschrift SemiBold" panose="020B0502040204020203" pitchFamily="34" charset="0"/>
            </a:endParaRPr>
          </a:p>
          <a:p>
            <a:r>
              <a:rPr sz="2400" dirty="0">
                <a:latin typeface="Bahnschrift SemiBold" panose="020B0502040204020203" pitchFamily="34" charset="0"/>
              </a:rPr>
              <a:t>It is practical, educational, and easy to understand.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noAutofit/>
          </a:bodyPr>
          <a:lstStyle/>
          <a:p>
            <a:r>
              <a:rPr sz="2400" dirty="0">
                <a:latin typeface="Bahnschrift SemiBold" panose="020B0502040204020203" pitchFamily="34" charset="0"/>
              </a:rPr>
              <a:t>The Crypto Portfolio Manager project is a simple and creative way to learn programming concepts with real-world use. It combines data storage, math, and user interaction in one project. The explanations are kept simple so that anyone can understand how portfolios and rebalancing work.</a:t>
            </a:r>
          </a:p>
          <a:p>
            <a:endParaRPr sz="2400" dirty="0">
              <a:latin typeface="Bahnschrift SemiBold" panose="020B0502040204020203" pitchFamily="34" charset="0"/>
            </a:endParaRPr>
          </a:p>
          <a:p>
            <a:r>
              <a:rPr sz="2400" dirty="0">
                <a:latin typeface="Bahnschrift SemiBold" panose="020B0502040204020203" pitchFamily="34" charset="0"/>
              </a:rPr>
              <a:t>This project is not only for learning C++ but also helps understand basic finance ideas in a fun way!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3FA43-EF46-A4DB-17C0-E97419380AC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8A026A6-C35C-E825-F10D-3E6CA803A954}"/>
              </a:ext>
            </a:extLst>
          </p:cNvPr>
          <p:cNvSpPr>
            <a:spLocks noGrp="1"/>
          </p:cNvSpPr>
          <p:nvPr>
            <p:ph idx="1"/>
          </p:nvPr>
        </p:nvSpPr>
        <p:spPr/>
        <p:txBody>
          <a:bodyPr>
            <a:normAutofit/>
          </a:bodyPr>
          <a:lstStyle/>
          <a:p>
            <a:pPr marL="0" indent="0" algn="ctr">
              <a:buNone/>
            </a:pPr>
            <a:r>
              <a:rPr lang="en-US" sz="6600" i="1" u="sng" dirty="0">
                <a:latin typeface="Algerian" panose="04020705040A02060702" pitchFamily="82" charset="0"/>
              </a:rPr>
              <a:t>THANK YOU</a:t>
            </a:r>
            <a:endParaRPr lang="en-IN" sz="6600" i="1" u="sng" dirty="0">
              <a:latin typeface="Algerian" panose="04020705040A02060702" pitchFamily="82" charset="0"/>
            </a:endParaRPr>
          </a:p>
        </p:txBody>
      </p:sp>
    </p:spTree>
    <p:extLst>
      <p:ext uri="{BB962C8B-B14F-4D97-AF65-F5344CB8AC3E}">
        <p14:creationId xmlns:p14="http://schemas.microsoft.com/office/powerpoint/2010/main" val="1808475240"/>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docProps/app.xml><?xml version="1.0" encoding="utf-8"?>
<Properties xmlns="http://schemas.openxmlformats.org/officeDocument/2006/extended-properties" xmlns:vt="http://schemas.openxmlformats.org/officeDocument/2006/docPropsVTypes">
  <Template>Dividend</Template>
  <TotalTime>43</TotalTime>
  <Words>2805</Words>
  <Application>Microsoft Office PowerPoint</Application>
  <PresentationFormat>On-screen Show (4:3)</PresentationFormat>
  <Paragraphs>94</Paragraphs>
  <Slides>17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Algerian</vt:lpstr>
      <vt:lpstr>Arial Rounded MT Bold</vt:lpstr>
      <vt:lpstr>Bahnschrift SemiBold</vt:lpstr>
      <vt:lpstr>Berlin Sans FB Demi</vt:lpstr>
      <vt:lpstr>Gill Sans MT</vt:lpstr>
      <vt:lpstr>Wingdings 2</vt:lpstr>
      <vt:lpstr>Dividend</vt:lpstr>
      <vt:lpstr>PowerPoint Presentation</vt:lpstr>
      <vt:lpstr>Introduction</vt:lpstr>
      <vt:lpstr>What is a Portfolio?</vt:lpstr>
      <vt:lpstr>Key Features of the Program</vt:lpstr>
      <vt:lpstr>How Data is Stored</vt:lpstr>
      <vt:lpstr>#include &lt;iostream&gt; #include &lt;fstream&gt; #include &lt;map&gt; #include &lt;iomanip&gt; #include &lt;cmath&gt; #include &lt;vector&gt; #include &lt;string&gt; using namespace std;   // ---------------- Abstract Base Class ---------------- class IDataManager { public:     virtual void load() = 0;   // pure virtual: load data     virtual void save() = 0;   // pure virtual: save data     virtual ~IDataManager() {} };   // ---------------- Holding Data ---------------- class Holdings : public IDataManager { public:     map&lt;string, double&gt; data;       void load() override {         data.clear();         ifstream f("holdings.txt");         if (!f) return;         string sym; double qty;         while (f &gt;&gt; sym &gt;&gt; qty) data[sym] = qty;     }       void save() override {         ofstream f("holdings.txt");         for (auto &amp;kv : data) f &lt;&lt; kv.first &lt;&lt; " " &lt;&lt; kv.second &lt;&lt; "\n";     }       void update(const string &amp;sym, double qty) {         if (qty == 0) data.erase(sym);         else data[sym] = qty;         save();     } };   // ---------------- Target Data ---------------- class Targets : public IDataManager { public:     map&lt;string, double&gt; data;       void load() override {         data.clear();         ifstream f("targets.txt");         if (!f) return;         string sym; double pct;         while (f &gt;&gt; sym &gt;&gt; pct) data[sym] = pct;     }       void save() override {         ofstream f("targets.txt");         for (auto &amp;kv : data) f &lt;&lt; kv.first &lt;&lt; " " &lt;&lt; kv.second &lt;&lt; "\n";     }       void update(const string &amp;sym, double pct) {         data[sym] = pct;         save();     } };   // ---------------- Portfolio Class ---------------- class Portfolio { public:     Holdings holdings;     Targets targets;     map&lt;string, double&gt; prices;       // Constructor     Portfolio() {         holdings.load();         targets.load();         prices = { {"bitcoin", 30000}, {"ethereum", 2000}, {"cardano", 0.5} };     }       struct Valuation {         double total_usd = 0;         map&lt;string, double&gt; value_usd;         map&lt;string, double&gt; allocation;     };       Valuation value_portfolio() {         Valuation val;         for (auto &amp;kv : holdings.data) {             string sym = kv.first;             double qty = kv.second;             double price = prices.count(sym) ? prices[sym] : 0.0;             double value = qty * price;             val.value_usd[sym] = value;             val.total_usd += value;         }         for (auto &amp;kv : val.value_usd) {             val.allocation[kv.first] = (val.total_usd &gt; 0) ? kv.second / val.total_usd : 0.0;         }         return val;     } };   // ---------------- Suggestion Class ---------------- struct Suggestion {     string symbol;     double usd_to_trade; };   // ---------------- Rebalancer ---------------- class Rebalancer { public:     virtual vector&lt;Suggestion&gt; suggest(Portfolio::Valuation val,                                        const map&lt;string, double&gt; &amp;targets,                                        double threshold = 0.05) = 0; };   // Concrete Rebalancer class SimpleRebalancer : public Rebalancer { public:     vector&lt;Suggestion&gt; suggest(Portfolio::Valuation val,                                const map&lt;string, double&gt; &amp;targets,                                double threshold = 0.05) override {         vector&lt;Suggestion&gt; out;         double total = val.total_usd;         if (total &lt;= 0) return out;           for (auto &amp;kv : targets) {             string sym = kv.first;             double target_pct = kv.second;             double current_pct = (val.allocation.count(sym) ? val.allocation.at(sym) : 0.0);             double diff = current_pct - target_pct;             if (fabs(diff) &gt; threshold) {                 double usd = -diff * total;                 usd = round(usd * 100.0) / 100.0;                 out.push_back({sym, usd});             }         }         return out;     } };   // ---------------- Menu ---------------- void print_menu() {     cout &lt;&lt; "\n1. Add/Update Holding\n"          &lt;&lt; "2. Add/Update Target\n"          &lt;&lt; "3. Show Portfolio\n"          &lt;&lt; "4. Suggest Rebalance\n"          &lt;&lt; "5. Exit\n"; }   // ---------------- Main ---------------- int main() {     Portfolio pf;     SimpleRebalancer rebalance;     cout &lt;&lt; "Crypto Portfolio Manager (OOP Clean C++)\n";       int choice;     while (true) {         print_menu();         cout &lt;&lt; "\nSelect option: ";         if (!(cin &gt;&gt; choice)) { cin.clear(); cin.ignore(10000,'\n'); continue; }           if (choice == 1) {             string sym; double qty;             cout &lt;&lt; "Symbol: "; cin &gt;&gt; sym;             cout &lt;&lt; "Quantity: "; cin &gt;&gt; qty;             pf.holdings.update(sym, qty);             cout &lt;&lt; "Saved holding " &lt;&lt; sym &lt;&lt; " = " &lt;&lt; qty &lt;&lt; "\n";         }          else if (choice == 2) {             string sym; double pct;             cout &lt;&lt; "Symbol: "; cin &gt;&gt; sym;             cout &lt;&lt; "Target percent (0-1): "; cin &gt;&gt; pct;             if (pct &lt; 0 || pct &gt; 1) { cout &lt;&lt; "Invalid percent.\n"; continue; }             pf.targets.update(sym, pct);             cout &lt;&lt; "Saved target " &lt;&lt; sym &lt;&lt; " = " &lt;&lt; pct &lt;&lt; "\n";         }          else if (choice == 3) {             auto val = pf.value_portfolio();             cout &lt;&lt; fixed &lt;&lt; setprecision(2);             cout &lt;&lt; "Total USD: $" &lt;&lt; val.total_usd &lt;&lt; "\n";             cout &lt;&lt; left &lt;&lt; setw(12) &lt;&lt; "SYMBOL" &lt;&lt; setw(12) &lt;&lt; "QTY"                  &lt;&lt; setw(12) &lt;&lt; "PRICE" &lt;&lt; setw(12) &lt;&lt; "VALUE" &lt;&lt; setw(10) &lt;&lt; "ALLOC\n";             for (auto &amp;kv : pf.holdings.data) {                 string s = kv.first;                 double q = kv.second;                 double p = pf.prices.count(s) ? pf.prices[s] : 0.0;                 double v = val.value_usd.count(s) ? val.value_usd[s] : 0.0;                 double a = val.allocation.count(s) ? val.allocation[s]*100 : 0.0;                 cout &lt;&lt; left &lt;&lt; setw(12) &lt;&lt; s                      &lt;&lt; setw(12) &lt;&lt; q                      &lt;&lt; setw(12) &lt;&lt; p                      &lt;&lt; setw(12) &lt;&lt; v                      &lt;&lt; setw(6) &lt;&lt; a &lt;&lt; "%\n";             }         }         else if (choice == 4) {             double threshold;             cout &lt;&lt; "Threshold (default 0.05): ";             if (!(cin &gt;&gt; threshold)) { threshold = 0.05; cin.clear(); cin.ignore(10000,'\n'); }             auto val = pf.value_portfolio();             auto suggestions = rebalance.suggest(val, pf.targets.data, threshold);             if (suggestions.empty()) cout &lt;&lt; "No suggestions (within threshold).\n";             else {                 cout &lt;&lt; "Suggestions (positive=buy USD, negative=sell USD):\n";                 for (auto &amp;s : suggestions)                     cout &lt;&lt; "  " &lt;&lt; setw(12) &lt;&lt; s.symbol &lt;&lt; " : " &lt;&lt; s.usd_to_trade &lt;&lt; " USD\n";             }         }         else if (choice == 5) break;         else cout &lt;&lt; "Invalid option\n";     }       cout &lt;&lt; "Bye\n";     return 0; }   Concepts Used in Crypto Portfolio Manager</vt:lpstr>
      <vt:lpstr>Countinue……</vt:lpstr>
      <vt:lpstr>Other Concepts and Logic</vt:lpstr>
      <vt:lpstr>Countinue……</vt:lpstr>
      <vt:lpstr>Prices and Valuation</vt:lpstr>
      <vt:lpstr>What is Rebalancing?</vt:lpstr>
      <vt:lpstr>Menu System</vt:lpstr>
      <vt:lpstr>Example Output</vt:lpstr>
      <vt:lpstr>Rebalancing Suggestions Example</vt:lpstr>
      <vt:lpstr>Why This Project is Useful</vt:lpstr>
      <vt:lpstr>Conclusion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HP</dc:creator>
  <cp:keywords/>
  <dc:description>generated using python-pptx</dc:description>
  <cp:lastModifiedBy>Utsav Rudakiya</cp:lastModifiedBy>
  <cp:revision>4</cp:revision>
  <dcterms:created xsi:type="dcterms:W3CDTF">2013-01-27T09:14:16Z</dcterms:created>
  <dcterms:modified xsi:type="dcterms:W3CDTF">2025-10-14T15:53:29Z</dcterms:modified>
  <cp:category/>
</cp:coreProperties>
</file>